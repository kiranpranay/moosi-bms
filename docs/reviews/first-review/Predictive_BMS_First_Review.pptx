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I am Muskan Sulathana and this is my first review for the major</a:t>
            </a:r>
          </a:p>
          <a:p>
            <a:r>
              <a:t>project. My project is a battery management system for a small lithium-ion</a:t>
            </a:r>
          </a:p>
          <a:p>
            <a:r>
              <a:t>pack. What makes it different is that it watches how fast the cells are heating</a:t>
            </a:r>
          </a:p>
          <a:p>
            <a:r>
              <a:t>up, not just how hot they are. I will take you through the problem, the circuit</a:t>
            </a:r>
          </a:p>
          <a:p>
            <a:r>
              <a:t>I have designed, the firmware plan, and where I am on the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order I will follow. I will start with what was approved in the</a:t>
            </a:r>
          </a:p>
          <a:p>
            <a:r>
              <a:t>zeroth review, then explain the problem I am solving and why the usual approach</a:t>
            </a:r>
          </a:p>
          <a:p>
            <a:r>
              <a:t>falls short. After that I will go through the circuit design in detail, then the</a:t>
            </a:r>
          </a:p>
          <a:p>
            <a:r>
              <a:t>firmware and the algorithm that does the prediction. I will finish with the</a:t>
            </a:r>
          </a:p>
          <a:p>
            <a:r>
              <a:t>cost, what I have finished so far, and the plan for the rest of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zeroth review I presented the idea and a block diagram, and the panel</a:t>
            </a:r>
          </a:p>
          <a:p>
            <a:r>
              <a:t>approved it. My guide signed off after that, so the approvals phase is finished.</a:t>
            </a:r>
          </a:p>
          <a:p>
            <a:r>
              <a:t>Since then I have done the detailed work: I picked real component values,</a:t>
            </a:r>
          </a:p>
          <a:p>
            <a:r>
              <a:t>worked out what the ADC can actually resolve, and priced the full parts list.</a:t>
            </a:r>
          </a:p>
          <a:p>
            <a:r>
              <a:t>Today I want to show that detail and get feedback before I start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gap I am working on. Almost every small battery protection board</a:t>
            </a:r>
          </a:p>
          <a:p>
            <a:r>
              <a:t>uses one rule: if the temperature goes above a set value, disconnect. The</a:t>
            </a:r>
          </a:p>
          <a:p>
            <a:r>
              <a:t>problem is that the set value tells you nothing until it is reached. A cell that</a:t>
            </a:r>
          </a:p>
          <a:p>
            <a:r>
              <a:t>is heating one degree every second is clearly in trouble even when it is only at</a:t>
            </a:r>
          </a:p>
          <a:p>
            <a:r>
              <a:t>thirty-five degrees, but a fixed limit ignores that completely. On top of that,</a:t>
            </a:r>
          </a:p>
          <a:p>
            <a:r>
              <a:t>the thermistor sits on the outside of the can, so the inside is always hotter</a:t>
            </a:r>
          </a:p>
          <a:p>
            <a:r>
              <a:t>than what I measure. Waiting for an absolute number means acting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five things I want to have working by the end of the project. The</a:t>
            </a:r>
          </a:p>
          <a:p>
            <a:r>
              <a:t>third one is the new part and the reason for the project. The fourth matters</a:t>
            </a:r>
          </a:p>
          <a:p>
            <a:r>
              <a:t>because a pack that is too cold to charge is still perfectly safe to discharge,</a:t>
            </a:r>
          </a:p>
          <a:p>
            <a:r>
              <a:t>so cutting both directions together would be crude. The last one is what makes</a:t>
            </a:r>
          </a:p>
          <a:p>
            <a:r>
              <a:t>it possible to actually see what the board is doing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papers frame the work. Feng and his co-authors explain what actually</a:t>
            </a:r>
          </a:p>
          <a:p>
            <a:r>
              <a:t>happens inside a cell as it runs away, and that is where the physics comes from.</a:t>
            </a:r>
          </a:p>
          <a:p>
            <a:r>
              <a:t>Zhang's review shows that most early-warning work needs extra hardware or a</a:t>
            </a:r>
          </a:p>
          <a:p>
            <a:r>
              <a:t>server behind it, which a student project cannot use. The Chen paper is the</a:t>
            </a:r>
          </a:p>
          <a:p>
            <a:r>
              <a:t>closest to what I am doing, and it is where my one degree per second threshold</a:t>
            </a:r>
          </a:p>
          <a:p>
            <a:r>
              <a:t>comes from. Habib's review lists thermal runaway as an open problem but does not</a:t>
            </a:r>
          </a:p>
          <a:p>
            <a:r>
              <a:t>build anything, and that is the gap I am filling.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page. The pack feeds the sensing front end,</a:t>
            </a:r>
          </a:p>
          <a:p>
            <a:r>
              <a:t>which reports voltage, current and temperature to the ESP32. The ESP32 runs the</a:t>
            </a:r>
          </a:p>
          <a:p>
            <a:r>
              <a:t>maths and drives two MOSFETs that sit in the pack's negative return. The same</a:t>
            </a:r>
          </a:p>
          <a:p>
            <a:r>
              <a:t>readings go out over Wi-Fi to a dashboard. The one thing worth pointing out is</a:t>
            </a:r>
          </a:p>
          <a:p>
            <a:r>
              <a:t>the note at the bottom: the ESP32's second ADC block cannot be used while Wi-Fi</a:t>
            </a:r>
          </a:p>
          <a:p>
            <a:r>
              <a:t>is running, so every analogue input has to go to the first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system with the real parts in it. Four cell taps go through</a:t>
            </a:r>
          </a:p>
          <a:p>
            <a:r>
              <a:t>dividers into the first ADC block. Four thermistors go through a CD4051 analogue</a:t>
            </a:r>
          </a:p>
          <a:p>
            <a:r>
              <a:t>multiplexer, because a DevKit board only exposes six usable ADC1 pins and I need</a:t>
            </a:r>
          </a:p>
          <a:p>
            <a:r>
              <a:t>eight channels. Current is measured by an INA226 over I2C, which costs no ADC</a:t>
            </a:r>
          </a:p>
          <a:p>
            <a:r>
              <a:t>pin at all. A buck module makes the 3.3 volt rail, not a linear regulator,</a:t>
            </a:r>
          </a:p>
          <a:p>
            <a:r>
              <a:t>because dropping thirteen volts in a linear part would waste about two watts.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power path on its own. The fuse sits in the positive line as the</a:t>
            </a:r>
          </a:p>
          <a:p>
            <a:r>
              <a:t>last-resort protection if the electronics fail completely. Both MOSFETs sit in</a:t>
            </a:r>
          </a:p>
          <a:p>
            <a:r>
              <a:t>the negative return, which is the same arrangement commercial protection boards</a:t>
            </a:r>
          </a:p>
          <a:p>
            <a:r>
              <a:t>use, because it lets both gates be driven against system ground with no charge</a:t>
            </a:r>
          </a:p>
          <a:p>
            <a:r>
              <a:t>pump. The circles are the measurement points: cell voltages at the taps, pack</a:t>
            </a:r>
          </a:p>
          <a:p>
            <a:r>
              <a:t>current across the shunt, and temperature at the cells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left is the divider for a cell tap. All four taps use the same ratio, so</a:t>
            </a:r>
          </a:p>
          <a:p>
            <a:r>
              <a:t>the top tap sets it: the full pack has to land inside the ADC range, which gives</a:t>
            </a:r>
          </a:p>
          <a:p>
            <a:r>
              <a:t>0.128 and about 4.7 millivolts per count once it is referred back to the tap.</a:t>
            </a:r>
          </a:p>
          <a:p>
            <a:r>
              <a:t>That is not precise enough for a production BMS, which is why I have noted an</a:t>
            </a:r>
          </a:p>
          <a:p>
            <a:r>
              <a:t>external 16-bit converter as the upgrade path. On the right is the thermistor</a:t>
            </a:r>
          </a:p>
          <a:p>
            <a:r>
              <a:t>input. The useful thing here is that a fixed calibration error cancels out when</a:t>
            </a:r>
          </a:p>
          <a:p>
            <a:r>
              <a:t>you take a derivative, so the rate trip is far less sensitive to ADC error than</a:t>
            </a:r>
          </a:p>
          <a:p>
            <a:r>
              <a:t>an absolute reading would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cut-off MOSFETs are wired source to source. That matters because a</a:t>
            </a:r>
          </a:p>
          <a:p>
            <a:r>
              <a:t>single MOSFET has a body diode which would keep conducting in one direction even</a:t>
            </a:r>
          </a:p>
          <a:p>
            <a:r>
              <a:t>when the device is off. With two facing opposite ways, each one blocks a</a:t>
            </a:r>
          </a:p>
          <a:p>
            <a:r>
              <a:t>different direction, so I can stop charging and discharging separately. I chose</a:t>
            </a:r>
          </a:p>
          <a:p>
            <a:r>
              <a:t>the IRLZ44N because it is a logic-level part, so a five volt gate is enough, and</a:t>
            </a:r>
          </a:p>
          <a:p>
            <a:r>
              <a:t>its on-resistance is about 22 milliohms, which at ten amps is only a couple of</a:t>
            </a:r>
          </a:p>
          <a:p>
            <a:r>
              <a:t>watts. On the right, each cell has its own bleed resistor and switch, and an</a:t>
            </a:r>
          </a:p>
          <a:p>
            <a:r>
              <a:t>optocoupler keeps the drive isolated so one ground-referenced pin can switch a</a:t>
            </a:r>
          </a:p>
          <a:p>
            <a:r>
              <a:t>cell sitting several volts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firmware runs three FreeRTOS tasks. The sensor task reads everything at ten</a:t>
            </a:r>
          </a:p>
          <a:p>
            <a:r>
              <a:t>hertz and filters it. The safety task owns the state machine and is the only</a:t>
            </a:r>
          </a:p>
          <a:p>
            <a:r>
              <a:t>thing allowed to touch the MOSFET pins, so there is no way for the telemetry</a:t>
            </a:r>
          </a:p>
          <a:p>
            <a:r>
              <a:t>code to accidentally switch the pack. The telemetry task builds the JSON message</a:t>
            </a:r>
          </a:p>
          <a:p>
            <a:r>
              <a:t>once a second. On the right is the state machine. The important part is that</a:t>
            </a:r>
          </a:p>
          <a:p>
            <a:r>
              <a:t>leaving the cut-off state needs both a low rate and a low temperature, held for</a:t>
            </a:r>
          </a:p>
          <a:p>
            <a:r>
              <a:t>five seconds, and after three trips in ten minutes it latches until someone</a:t>
            </a:r>
          </a:p>
          <a:p>
            <a:r>
              <a:t>resets it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the project in ten lines. The order matters. If you take the</a:t>
            </a:r>
          </a:p>
          <a:p>
            <a:r>
              <a:t>slope of raw readings you mostly measure noise, because differentiating makes</a:t>
            </a:r>
          </a:p>
          <a:p>
            <a:r>
              <a:t>noise worse, so the smoothing has to come first. Then the slope itself gets</a:t>
            </a:r>
          </a:p>
          <a:p>
            <a:r>
              <a:t>smoothed again over a one second window. The threshold of one degree per second</a:t>
            </a:r>
          </a:p>
          <a:p>
            <a:r>
              <a:t>comes from the Chen paper in my literature survey. The sixty degree line is</a:t>
            </a:r>
          </a:p>
          <a:p>
            <a:r>
              <a:t>still there as a backstop, but in a real runaway the rate trip fires well before</a:t>
            </a:r>
          </a:p>
          <a:p>
            <a:r>
              <a:t>it. The last point is the one I like most: because a derivative removes any</a:t>
            </a:r>
          </a:p>
          <a:p>
            <a:r>
              <a:t>constant offset, a calibration error that would ruin an absolute reading has</a:t>
            </a:r>
          </a:p>
          <a:p>
            <a:r>
              <a:t>almost no effect on the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simulated curve, not measured data, and the slide says so. The cell</a:t>
            </a:r>
          </a:p>
          <a:p>
            <a:r>
              <a:t>warms slowly, then self-heating takes over and the temperature climbs</a:t>
            </a:r>
          </a:p>
          <a:p>
            <a:r>
              <a:t>exponentially. The green line is where the rate trip fires: thirty point eight</a:t>
            </a:r>
          </a:p>
          <a:p>
            <a:r>
              <a:t>seconds, with the cell still at only thirty-six degrees. The red line is where a</a:t>
            </a:r>
          </a:p>
          <a:p>
            <a:r>
              <a:t>fixed sixty degree limit would fire, at forty point four seconds. That is almost</a:t>
            </a:r>
          </a:p>
          <a:p>
            <a:r>
              <a:t>ten seconds earlier, and more importantly the pack is twenty-four degrees cooler</a:t>
            </a:r>
          </a:p>
          <a:p>
            <a:r>
              <a:t>when the power is removed. I will replace this with real bench data once the</a:t>
            </a:r>
          </a:p>
          <a:p>
            <a:r>
              <a:t>prototype is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ESP32 joins the local Wi-Fi and serves a small web page itself, so there is</a:t>
            </a:r>
          </a:p>
          <a:p>
            <a:r>
              <a:t>no cloud account and no broker to set up. Once a second the telemetry task</a:t>
            </a:r>
          </a:p>
          <a:p>
            <a:r>
              <a:t>builds the JSON message you can see at the bottom left, and pushes it over a</a:t>
            </a:r>
          </a:p>
          <a:p>
            <a:r>
              <a:t>WebSocket. The browser draws live gauges and a rolling chart from that. The one</a:t>
            </a:r>
          </a:p>
          <a:p>
            <a:r>
              <a:t>message going the other way is the command to clear a latched cut-off, and that</a:t>
            </a:r>
          </a:p>
          <a:p>
            <a:r>
              <a:t>is deliberately the only thing the dashboard is allowed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parts list. It comes to about three thousand rupees, which is</a:t>
            </a:r>
          </a:p>
          <a:p>
            <a:r>
              <a:t>within what I can fund myself. The thermistor price is the only one I have</a:t>
            </a:r>
          </a:p>
          <a:p>
            <a:r>
              <a:t>confirmed on a live product page; the rest are the usual retail figures and I</a:t>
            </a:r>
          </a:p>
          <a:p>
            <a:r>
              <a:t>have marked them as approximate. The cells are the biggest single line, and I</a:t>
            </a:r>
          </a:p>
          <a:p>
            <a:r>
              <a:t>plan to buy them from a seller who will supply matched capacities, because</a:t>
            </a:r>
          </a:p>
          <a:p>
            <a:r>
              <a:t>mismatched cells would make the balancing work much harder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I actually am. The approvals phase is finished. Procurement is the</a:t>
            </a:r>
          </a:p>
          <a:p>
            <a:r>
              <a:t>live one: the parts list is final and priced, and I am placing the order this</a:t>
            </a:r>
          </a:p>
          <a:p>
            <a:r>
              <a:t>week. Nothing on the bench has been built yet, which is honest, but the design</a:t>
            </a:r>
          </a:p>
          <a:p>
            <a:r>
              <a:t>work for the later phases is not zero either. The algorithm and the state</a:t>
            </a:r>
          </a:p>
          <a:p>
            <a:r>
              <a:t>machine are worked out on paper, and the telemetry message format is decided, so</a:t>
            </a:r>
          </a:p>
          <a:p>
            <a:r>
              <a:t>those phases should move quickly once the hardware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plan for the rest of the semester, twelve weeks from the end of</a:t>
            </a:r>
          </a:p>
          <a:p>
            <a:r>
              <a:t>August. Procurement takes two weeks. Prototyping overlaps with it slightly</a:t>
            </a:r>
          </a:p>
          <a:p>
            <a:r>
              <a:t>because I can start the sensing board before the cells arrive. The software</a:t>
            </a:r>
          </a:p>
          <a:p>
            <a:r>
              <a:t>phase is the longest at four and a half weeks, and it deliberately overlaps</a:t>
            </a:r>
          </a:p>
          <a:p>
            <a:r>
              <a:t>prototyping, since I can test the reading and filtering code on the bench supply</a:t>
            </a:r>
          </a:p>
          <a:p>
            <a:r>
              <a:t>before the pack is finished. The four dashed lines are the checkpoints I am</a:t>
            </a:r>
          </a:p>
          <a:p>
            <a:r>
              <a:t>holding myself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four things I expect to be able to show at the end. The second one</a:t>
            </a:r>
          </a:p>
          <a:p>
            <a:r>
              <a:t>is the real test of the project, and I plan to prove it by warming a cell with a</a:t>
            </a:r>
          </a:p>
          <a:p>
            <a:r>
              <a:t>small heater and recording when each trip fires. The last point matters for a</a:t>
            </a:r>
          </a:p>
          <a:p>
            <a:r>
              <a:t>college project: everything on the list can be bought locally, so the work can</a:t>
            </a:r>
          </a:p>
          <a:p>
            <a:r>
              <a:t>actually be repeated by someone else in the department.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five sources I have used. The first four are the papers in my</a:t>
            </a:r>
          </a:p>
          <a:p>
            <a:r>
              <a:t>literature survey table, numbered in the same order. The last one is the Indian</a:t>
            </a:r>
          </a:p>
          <a:p>
            <a:r>
              <a:t>standard that covers sealed lithium cells, and it is the standard whose abuse</a:t>
            </a:r>
          </a:p>
          <a:p>
            <a:r>
              <a:t>tests my design is aimed at, although I am not claiming any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end of my presentation. Thank you for listening. I am happy to take</a:t>
            </a:r>
          </a:p>
          <a:p>
            <a:r>
              <a:t>questions on the circuit, the choice of threshold, or the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58952"/>
            <a:ext cx="981425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 i="0" u="none">
                <a:solidFill>
                  <a:srgbClr val="002060"/>
                </a:solidFill>
                <a:latin typeface="Times New Roman"/>
              </a:rPr>
              <a:t>Major Project Stage-1 First Review Presentation</a:t>
            </a:r>
          </a:p>
          <a:p>
            <a:pPr algn="ctr"/>
            <a:r>
              <a:rPr sz="1800" b="1" i="0" u="none">
                <a:solidFill>
                  <a:srgbClr val="002060"/>
                </a:solidFill>
                <a:latin typeface="Times New Roman"/>
              </a:rPr>
              <a:t>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800" b="1" i="0" u="none">
                <a:solidFill>
                  <a:srgbClr val="000000"/>
                </a:solidFill>
                <a:latin typeface="Times New Roman"/>
              </a:rPr>
              <a:t>Predictive Thermal Battery Management System</a:t>
            </a:r>
          </a:p>
          <a:p>
            <a:pPr algn="ctr"/>
            <a:r>
              <a:rPr sz="2800" b="1" i="0" u="none">
                <a:solidFill>
                  <a:srgbClr val="000000"/>
                </a:solidFill>
                <a:latin typeface="Times New Roman"/>
              </a:rPr>
              <a:t>for Li-ion Battery Packs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401568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 u="none">
                <a:solidFill>
                  <a:srgbClr val="000000"/>
                </a:solidFill>
                <a:latin typeface="Times New Roman"/>
              </a:rPr>
              <a:t>Presented by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/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Ms. Muskan Sulathana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Roll No.  :  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401568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 u="none">
                <a:solidFill>
                  <a:srgbClr val="000000"/>
                </a:solidFill>
                <a:latin typeface="Times New Roman"/>
              </a:rPr>
              <a:t>Guide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/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Rupesh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Department of EEE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BVRIT HYDERABAD College of Engineering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for Women,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13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Recap of the zeroth review</a:t>
            </a:r>
          </a:p>
          <a:p>
            <a:pPr marL="283464" indent="-283464">
              <a:lnSpc>
                <a:spcPct val="110000"/>
              </a:lnSpc>
              <a:spcAft>
                <a:spcPts val="13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Problem statement and objectives</a:t>
            </a:r>
          </a:p>
          <a:p>
            <a:pPr marL="283464" indent="-283464">
              <a:lnSpc>
                <a:spcPct val="110000"/>
              </a:lnSpc>
              <a:spcAft>
                <a:spcPts val="13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Literature survey</a:t>
            </a:r>
          </a:p>
          <a:p>
            <a:pPr marL="283464" indent="-283464">
              <a:lnSpc>
                <a:spcPct val="110000"/>
              </a:lnSpc>
              <a:spcAft>
                <a:spcPts val="13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Proposed system, hardware and circuits</a:t>
            </a:r>
          </a:p>
          <a:p>
            <a:pPr marL="283464" indent="-283464">
              <a:lnSpc>
                <a:spcPct val="110000"/>
              </a:lnSpc>
              <a:spcAft>
                <a:spcPts val="13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Firmware and the predictive algorithm</a:t>
            </a:r>
          </a:p>
          <a:p>
            <a:pPr marL="283464" indent="-283464">
              <a:lnSpc>
                <a:spcPct val="110000"/>
              </a:lnSpc>
              <a:spcAft>
                <a:spcPts val="13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IoT dashboard, cost and work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Recap of the Zeroth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The idea was approved: a BMS that acts on how fast a cell heats, not only on how hot it is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The synopsis and the block diagram were accepted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My guide signed off, so Phase 1 of the plan is complete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Since then I have fixed the circuit values and priced every part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This review covers the detailed design and the firmware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normal small BMS cuts power only when a fixed temperature is crossed, often 60 °C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cell that is climbing fast at 35 °C is already faulty, but it passes that test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Once a lithium cell starts heating itself, the heat drives more reaction, which makes more heat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sensor on the outside of a cell always lags what is happening inside it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So a fixed limit reacts late, and it gives no warning at all beforehand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Build a working 4S battery management system for 18650 cells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Measure four cell voltages, the pack current and four cell temperatures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Trip on the rate at which temperature rises, not only on its value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Switch charging and discharging separately, so only the unsafe direction stops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Send every reading over Wi-Fi to a page that opens on a phone or a laptop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5167" y="1389888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/>
                <a:gridCol w="1737360"/>
                <a:gridCol w="2788920"/>
                <a:gridCol w="2788920"/>
                <a:gridCol w="2999232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Author and year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they did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it does not do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I do differently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[1]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Feng et al., 2018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Laboratory study of how runaway starts and spreads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Explains the mechanism; it is not a live detector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Turns that mechanism into a trip that runs on the board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[2]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Zhang et al., 2023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Review of ways to predict runaway early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Most methods need gas or pressure sensors, or a server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One threshold test on the ESP32, with no extra sensors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[3]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Chen et al., 2024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Trips when the temperature rise reaches 1 °C per second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Needs training data and a fitted thermal model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Uses the same 1 °C/s figure, computed directly in firmware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[4]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Habib et al., 2023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Review of BMS functions and the problems still open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Lists thermal runaway as unsolved; builds nothing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Builds and bench-tests one specific answer to it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298448"/>
            <a:ext cx="101955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pack, the sensing, the controller and the protection sit in one loop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same readings are used to protect the pack and to feed the dashboard</a:t>
            </a:r>
          </a:p>
        </p:txBody>
      </p:sp>
      <p:pic>
        <p:nvPicPr>
          <p:cNvPr id="8" name="Picture 7" descr="01_system_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195" y="2267712"/>
            <a:ext cx="7820561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Hardware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02_hardware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477" y="1298448"/>
            <a:ext cx="1043199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Power Path — Single Line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298448"/>
            <a:ext cx="101955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15 A fuse is the backstop if the electronics fail completely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Both switches sit in the negative return, so both gates drive against ground</a:t>
            </a:r>
          </a:p>
        </p:txBody>
      </p:sp>
      <p:pic>
        <p:nvPicPr>
          <p:cNvPr id="8" name="Picture 7" descr="03_power_path_s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422" y="2267712"/>
            <a:ext cx="9996107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Sensing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04_voltage_sense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769728"/>
            <a:ext cx="5230368" cy="28156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243584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600" b="1" i="0" u="none">
                <a:solidFill>
                  <a:srgbClr val="000000"/>
                </a:solidFill>
                <a:latin typeface="Times New Roman"/>
              </a:rPr>
              <a:t>Cell voltage</a:t>
            </a:r>
          </a:p>
        </p:txBody>
      </p:sp>
      <p:pic>
        <p:nvPicPr>
          <p:cNvPr id="9" name="Picture 8" descr="05_ntc_schema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1970349"/>
            <a:ext cx="5230368" cy="24143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0216" y="1243584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600" b="1" i="0" u="none">
                <a:solidFill>
                  <a:srgbClr val="000000"/>
                </a:solidFill>
                <a:latin typeface="Times New Roman"/>
              </a:rPr>
              <a:t>Cell 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8603" y="4928616"/>
            <a:ext cx="10195560" cy="12161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Divider ratio 0.128 puts a full 16.8 V pack at 2.15 V — about 4.7 mV per count</a:t>
            </a:r>
          </a:p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Beta equation: 1/T = 1/T₀ + (1/β)·ln(R/R₀), with T₀ = 298.15 K, R₀ = 10 kΩ, β = 3950 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Protection and Balancing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298448"/>
            <a:ext cx="101955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IRLZ44N: logic level, 55 V, about 22 mΩ on-resistance at a 5 V gate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two body diodes face opposite ways, so each direction blocks separately</a:t>
            </a:r>
          </a:p>
        </p:txBody>
      </p:sp>
      <p:pic>
        <p:nvPicPr>
          <p:cNvPr id="8" name="Picture 7" descr="06_cutoff_balancing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954" y="2267712"/>
            <a:ext cx="9251042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Firmware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07_firmwar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80" y="1298448"/>
            <a:ext cx="1040999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The Predictive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Temperature is sampled every 100 ms and smoothed before the slope is taken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slope is an exponential moving average over a one-second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1523" y="2395728"/>
            <a:ext cx="9189720" cy="2714243"/>
          </a:xfrm>
          <a:prstGeom prst="rect">
            <a:avLst/>
          </a:prstGeom>
          <a:solidFill>
            <a:srgbClr val="F5F5F5"/>
          </a:solidFill>
          <a:ln>
            <a:solidFill>
              <a:srgbClr val="D8D8D8"/>
            </a:solidFill>
          </a:ln>
        </p:spPr>
        <p:txBody>
          <a:bodyPr wrap="none" lIns="146304" rIns="146304" tIns="91440" bIns="91440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T_filt  = ema(T_raw, alpha = 0.2)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slope   = (T_filt - T_filt_1s_ago) / 1.0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dTdt    = ema(slope, alpha = 0.3)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/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if dTdt &gt;= 1.0 or T_filt &gt;= 60.0: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    open_both_mosfets()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    state = CUTOFF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elif dTdt &gt;= 0.5: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    state = WARNING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# leave CUTOFF only when dTdt &lt; 0.2 and T_filt &lt; 40 for 5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8603" y="5384291"/>
            <a:ext cx="10195560" cy="7604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Smoothing comes first: a slope taken from raw counts is mostly noise</a:t>
            </a:r>
          </a:p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A fixed calibration error cancels in a slope, so the trip tolerates ADC drift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Predictive Compared With a Fixed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08_predictive_vs_rea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599" y="1298448"/>
            <a:ext cx="8935752" cy="44439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" y="5797296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1" u="none">
                <a:solidFill>
                  <a:srgbClr val="898989"/>
                </a:solidFill>
                <a:latin typeface="Times New Roman"/>
              </a:rPr>
              <a:t>Simulated for illustration. Real measurements will replace this after bench testing.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IoT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09_io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81810"/>
            <a:ext cx="10872215" cy="46613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Bill of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35024"/>
            <a:ext cx="101955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1" u="none">
                <a:solidFill>
                  <a:srgbClr val="898989"/>
                </a:solidFill>
                <a:latin typeface="Times New Roman"/>
              </a:rPr>
              <a:t>Approximate Indian retail prices, August 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15287" y="1773936"/>
          <a:ext cx="8961120" cy="43708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54880"/>
                <a:gridCol w="1005840"/>
                <a:gridCol w="1463040"/>
                <a:gridCol w="1737360"/>
              </a:tblGrid>
              <a:tr h="364235"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Unit (₹)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Amount (₹)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ESP32-WROOM-32 DevKit V1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18650 cells, 2600 mAh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1000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4S holder and nickel strip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set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270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270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NTC thermistor 10 kΩ B3950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INA226 module with shunt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IRLZ44N cut-off MOSFETs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Balancing parts per cell (P-FET, opto, bleed)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 sets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180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CD4051B multiplexer and TC4420 driver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set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MP1584EN buck module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Passives, fuse, board and wiring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set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550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550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46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>3053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Work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98067" y="1389888"/>
          <a:ext cx="10195559" cy="46085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1874519"/>
                <a:gridCol w="5486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Phase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is done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· Initial approvals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Synopsis, block diagram and guide approval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 · Procurement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In progress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Parts list finalised and priced; ordering next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3 · Prototyping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Waiting on parts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 · Core software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Algorithm and state machine designed on paper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5 · IoT integration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Message format decided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6 · Final polish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Work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10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78" y="1298448"/>
            <a:ext cx="1064379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Expected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working 4S BMS that cuts off on temperature rate, demonstrated on the bench</a:t>
            </a:r>
          </a:p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Measured proof that the rate trip fires earlier than a fixed 60 °C limit</a:t>
            </a:r>
          </a:p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live dashboard showing voltage, current, temperature and rate for every cell</a:t>
            </a:r>
          </a:p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design that costs about ₹3,000 and uses only parts available in India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[1]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X. Feng, M. Ouyang, X. Liu, L. Lu, Y. Xia and X. He, “Thermal runaway mechanism of lithium ion battery for electric vehicles: A review,” Energy Storage Materials, vol. 10, pp. 246–267, 2018.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[2]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X. Zhang, S. Chen, J. Zhu et al., “A critical review of thermal runaway prediction and early-warning methods for lithium-ion batteries,” Energy Material Advances, vol. 4, art. 0008, 2023.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[3]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Q. Chen, Y. He, N. Fang and G. Yu, “A combined data-driven and model-based algorithm for accurate battery thermal runaway warning,” Sensors, vol. 24, no. 15, art. 4964, 2024.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[4]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A. K. M. A. Habib, M. K. Hasan, G. F. Issa, D. Singh, S. Islam and T. M. Ghazal, “Lithium-ion battery management system for electric vehicles: Constraints, challenges and recommendations,” Batteries, vol. 9, no. 3, art. 152, 2023.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[5]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IS 16046 (Part 2) : 2018 / IEC 62133-2 : 2017, Secondary cells and batteries containing alkaline or other non-acid electrolytes — Part 2: Lithium systems.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814255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000" b="1" i="0" u="none">
                <a:solidFill>
                  <a:srgbClr val="000000"/>
                </a:solidFill>
                <a:latin typeface="Times New Roman"/>
              </a:rPr>
              <a:t>Thank You</a:t>
            </a:r>
          </a:p>
          <a:p>
            <a:pPr algn="ctr"/>
            <a:r>
              <a:rPr sz="1800" b="0" i="0" u="none">
                <a:solidFill>
                  <a:srgbClr val="000000"/>
                </a:solidFill>
                <a:latin typeface="Times New Roman"/>
              </a:rPr>
              <a:t/>
            </a:r>
          </a:p>
          <a:p>
            <a:pPr algn="ctr"/>
            <a:r>
              <a:rPr sz="2000" b="0" i="0" u="none">
                <a:solidFill>
                  <a:srgbClr val="002060"/>
                </a:solidFill>
                <a:latin typeface="Times New Roman"/>
              </a:rPr>
              <a:t>Questions are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