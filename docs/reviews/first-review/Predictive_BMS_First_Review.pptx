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Muskan Sulathana, and this is my first review. My project is a</a:t>
            </a:r>
          </a:p>
          <a:p>
            <a:r>
              <a:t>battery management system for a small lithium-ion pack that predicts how fast each</a:t>
            </a:r>
          </a:p>
          <a:p>
            <a:r>
              <a:t>cell should be warming up, and acts when a cell heats faster than its current explains. Since the zeroth review I have</a:t>
            </a:r>
          </a:p>
          <a:p>
            <a:r>
              <a:t>finished the literature survey and the full design of the system, and I will take you</a:t>
            </a:r>
          </a:p>
          <a:p>
            <a:r>
              <a:t>through both.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order I will follow. I start with a short summary of the project and the</a:t>
            </a:r>
          </a:p>
          <a:p>
            <a:r>
              <a:t>problem, then the papers I studied and the gap they leave. After that I explain the</a:t>
            </a:r>
          </a:p>
          <a:p>
            <a:r>
              <a:t>objectives, the method and the design, and finish with my progress and the plan for</a:t>
            </a:r>
          </a:p>
          <a:p>
            <a:r>
              <a:t>the coming months.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project in five points. The first two explain why the usual approach</a:t>
            </a:r>
          </a:p>
          <a:p>
            <a:r>
              <a:t>is not enough. The third and fourth describe what I am building: a hardware layer that</a:t>
            </a:r>
          </a:p>
          <a:p>
            <a:r>
              <a:t>protects the cells on its own, and an ESP32 layer that predicts how each cell should heat.</a:t>
            </a:r>
          </a:p>
          <a:p>
            <a:r>
              <a:t>The last point is how it acts: it disconnects only the unsafe direction and keeps the</a:t>
            </a:r>
          </a:p>
          <a:p>
            <a:r>
              <a:t>fault latched until someone checks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has three parts. The first is timing: a fixed temperature limit is a late</a:t>
            </a:r>
          </a:p>
          <a:p>
            <a:r>
              <a:t>signal, because it tells you a cell is hot, never that it is becoming hot. The second</a:t>
            </a:r>
          </a:p>
          <a:p>
            <a:r>
              <a:t>is dependence: if everything relies on one controller, one crash removes all</a:t>
            </a:r>
          </a:p>
          <a:p>
            <a:r>
              <a:t>protection. The third is bluntness: most boards cut everything, even when only</a:t>
            </a:r>
          </a:p>
          <a:p>
            <a:r>
              <a:t>charging is unsafe. My design tries to answer all three.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first five papers. The first explains the physics of thermal runaway. The</a:t>
            </a:r>
          </a:p>
          <a:p>
            <a:r>
              <a:t>next three set out what a battery management system should do and what can go wrong,</a:t>
            </a:r>
          </a:p>
          <a:p>
            <a:r>
              <a:t>including the point that the protection inside an 18650 cell is only a last resort. The</a:t>
            </a:r>
          </a:p>
          <a:p>
            <a:r>
              <a:t>fifth is a review of early-warning methods, and it shows that most of them need detailed</a:t>
            </a:r>
          </a:p>
          <a:p>
            <a:r>
              <a:t>models, large data sets or artificial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next five. Papers six to eight are actual warning methods. They work,</a:t>
            </a:r>
          </a:p>
          <a:p>
            <a:r>
              <a:t>but they rely on comparing many cells, on a trained neural network, or on fitted models.</a:t>
            </a:r>
          </a:p>
          <a:p>
            <a:r>
              <a:t>Paper eight is often quoted for a limit of one degree per second, but in that paper it</a:t>
            </a:r>
          </a:p>
          <a:p>
            <a:r>
              <a:t>is the rule used to confirm that runaway has already happened, not an early warning.</a:t>
            </a:r>
          </a:p>
          <a:p>
            <a:r>
              <a:t>Paper nine shows that a sensor on the surface always reads cooler than the core, and</a:t>
            </a:r>
          </a:p>
          <a:p>
            <a:r>
              <a:t>paper ten moves the analysis to the cloud, which fails when the network does.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the papers together, the analysis is this. We understand the physics well, and</a:t>
            </a:r>
          </a:p>
          <a:p>
            <a:r>
              <a:t>there are clever warning methods, but they all need something a small pack does not</a:t>
            </a:r>
          </a:p>
          <a:p>
            <a:r>
              <a:t>have: many cells to compare, trained models or a cloud connection. And the cheap</a:t>
            </a:r>
          </a:p>
          <a:p>
            <a:r>
              <a:t>protection boards that small packs do have ignore temperature entirely. So the gap is a</a:t>
            </a:r>
          </a:p>
          <a:p>
            <a:r>
              <a:t>simple trend-based warning that runs on the board, backed by protection that does not</a:t>
            </a:r>
          </a:p>
          <a:p>
            <a:r>
              <a:t>depend on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objectives map directly onto the project timeline later in the talk. The</a:t>
            </a:r>
          </a:p>
          <a:p>
            <a:r>
              <a:t>first two are about understanding the problem and designing the answer, and both are</a:t>
            </a:r>
          </a:p>
          <a:p>
            <a:r>
              <a:t>done. The third and fourth are the hardware and firmware work for the coming months.</a:t>
            </a:r>
          </a:p>
          <a:p>
            <a:r>
              <a:t>The last one makes the system visible, but I have deliberately kept it out of the</a:t>
            </a:r>
          </a:p>
          <a:p>
            <a:r>
              <a:t>safety chain.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controller works, five times every second. It reads the four cell taps,</a:t>
            </a:r>
          </a:p>
          <a:p>
            <a:r>
              <a:t>the pack current, the four cell temperatures and the air temperature, removes noise with</a:t>
            </a:r>
          </a:p>
          <a:p>
            <a:r>
              <a:t>a median filter and a ten-second low-pass filter, and works out the rate of temperature</a:t>
            </a:r>
          </a:p>
          <a:p>
            <a:r>
              <a:t>rise by fitting a straight line over the last thirty seconds. Then it predicts. A thermal</a:t>
            </a:r>
          </a:p>
          <a:p>
            <a:r>
              <a:t>model of each cell, with a Kalman filter, estimates the core temperature and the abnormal</a:t>
            </a:r>
          </a:p>
          <a:p>
            <a:r>
              <a:t>heat in watts: heat the current cannot explain, the early sign of a fault. Every ten</a:t>
            </a:r>
          </a:p>
          <a:p>
            <a:r>
              <a:t>seconds it forecasts each cell's temperature five minutes ahead, and when that time comes</a:t>
            </a:r>
          </a:p>
          <a:p>
            <a:r>
              <a:t>it checks the forecast against the real reading. It also compares the cells with each</a:t>
            </a:r>
          </a:p>
          <a:p>
            <a:r>
              <a:t>other, checks each cell's self-discharge at rest, and works out the safe current.</a:t>
            </a:r>
          </a:p>
          <a:p>
            <a:r>
              <a:t>Before trusting any reading it checks that the sensors are plausible, then compares</a:t>
            </a:r>
          </a:p>
          <a:p>
            <a:r>
              <a:t>everything with the trip and warning limits. A trip opens only the relay for the unsafe</a:t>
            </a:r>
          </a:p>
          <a:p>
            <a:r>
              <a:t>direction and stays latched until a manual reset.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has two layers. Layer A, at the top, is a hardware BMS board connected</a:t>
            </a:r>
          </a:p>
          <a:p>
            <a:r>
              <a:t>directly to the cells. It handles over-voltage, under-voltage, over-current and short</a:t>
            </a:r>
          </a:p>
          <a:p>
            <a:r>
              <a:t>circuit on its own, and it keeps working even if the ESP32 or the Wi-Fi fails. Layer B</a:t>
            </a:r>
          </a:p>
          <a:p>
            <a:r>
              <a:t>is the ESP32 supervisor. It reads the ADS1115 for the cell voltages, the INA226 for the</a:t>
            </a:r>
          </a:p>
          <a:p>
            <a:r>
              <a:t>current and five thermistors for temperature, one on each cell and one in the air, and</a:t>
            </a:r>
          </a:p>
          <a:p>
            <a:r>
              <a:t>it drives two relays that connect the</a:t>
            </a:r>
          </a:p>
          <a:p>
            <a:r>
              <a:t>load and the charger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power path. The cells connect to the hardware BMS through five balance taps.</a:t>
            </a:r>
          </a:p>
          <a:p>
            <a:r>
              <a:t>The protected positive goes through a 7.5 ampere fuse and a 5 milliohm shunt, where the</a:t>
            </a:r>
          </a:p>
          <a:p>
            <a:r>
              <a:t>INA226 measures the current, and then to the load and the charger. Each branch has its</a:t>
            </a:r>
          </a:p>
          <a:p>
            <a:r>
              <a:t>own relay in the negative return. Both relays are normally open and held off by</a:t>
            </a:r>
          </a:p>
          <a:p>
            <a:r>
              <a:t>pull-ups, so if the ESP32 resets or crashes, both branches disconnect.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everything the project uses. On the hardware side the main parts are the ESP32,</a:t>
            </a:r>
          </a:p>
          <a:p>
            <a:r>
              <a:t>the four cells, the hardware BMS board, the ADS1115 for accurate cell voltages, the</a:t>
            </a:r>
          </a:p>
          <a:p>
            <a:r>
              <a:t>INA226 for current and the five thermistors. The relay module gives the separate charge</a:t>
            </a:r>
          </a:p>
          <a:p>
            <a:r>
              <a:t>and load control. On the software side the firmware is written in C++ on ESP-IDF, with</a:t>
            </a:r>
          </a:p>
          <a:p>
            <a:r>
              <a:t>FreeRTOS running the sensing, safety and telemetry work as separate tasks.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I am. The literature survey was done over the first two months, and the</a:t>
            </a:r>
          </a:p>
          <a:p>
            <a:r>
              <a:t>two-layer design and component selection were finished in the second month. The</a:t>
            </a:r>
          </a:p>
          <a:p>
            <a:r>
              <a:t>remaining three objectives are the build: assembling and calibrating the sensing</a:t>
            </a:r>
          </a:p>
          <a:p>
            <a:r>
              <a:t>hardware, writing and testing the firmware, and then the dashboard, full testing and</a:t>
            </a:r>
          </a:p>
          <a:p>
            <a:r>
              <a:t>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first five references, in IEEE style, numbered as in the survey tables.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references six to ten. Seven of the ten are IEEE publications.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of my presentation. Thank you for listening. I am happy to take</a:t>
            </a:r>
          </a:p>
          <a:p>
            <a:r>
              <a:t>questions on the circuit, the choice of threshold, or the schedule.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201168" y="36576"/>
            <a:ext cx="8741664" cy="274320"/>
          </a:xfrm>
          <a:custGeom>
            <a:avLst/>
            <a:gdLst/>
            <a:ahLst/>
            <a:cxnLst/>
            <a:rect l="l" t="t" r="r" b="b"/>
            <a:pathLst>
              <a:path w="8741664" h="274320">
                <a:moveTo>
                  <a:pt x="0" y="0"/>
                </a:moveTo>
                <a:lnTo>
                  <a:pt x="8741664" y="0"/>
                </a:lnTo>
                <a:lnTo>
                  <a:pt x="8485632" y="274320"/>
                </a:lnTo>
                <a:lnTo>
                  <a:pt x="256032" y="274320"/>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274320" y="36576"/>
            <a:ext cx="8595360" cy="210312"/>
          </a:xfrm>
          <a:custGeom>
            <a:avLst/>
            <a:gdLst/>
            <a:ahLst/>
            <a:cxnLst/>
            <a:rect l="l" t="t" r="r" b="b"/>
            <a:pathLst>
              <a:path w="8595360" h="210312">
                <a:moveTo>
                  <a:pt x="0" y="0"/>
                </a:moveTo>
                <a:lnTo>
                  <a:pt x="8595360" y="0"/>
                </a:lnTo>
                <a:lnTo>
                  <a:pt x="8394192" y="210312"/>
                </a:lnTo>
                <a:lnTo>
                  <a:pt x="201168" y="210312"/>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28600" y="6382512"/>
            <a:ext cx="8778240" cy="292608"/>
          </a:xfrm>
          <a:custGeom>
            <a:avLst/>
            <a:gdLst/>
            <a:ahLst/>
            <a:cxnLst/>
            <a:rect l="l" t="t" r="r" b="b"/>
            <a:pathLst>
              <a:path w="8778240" h="292608">
                <a:moveTo>
                  <a:pt x="274320" y="0"/>
                </a:moveTo>
                <a:lnTo>
                  <a:pt x="8458200" y="0"/>
                </a:lnTo>
                <a:lnTo>
                  <a:pt x="8778240"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365760" y="6437376"/>
            <a:ext cx="8503920" cy="237744"/>
          </a:xfrm>
          <a:custGeom>
            <a:avLst/>
            <a:gdLst/>
            <a:ahLst/>
            <a:cxnLst/>
            <a:rect l="l" t="t" r="r" b="b"/>
            <a:pathLst>
              <a:path w="8503920" h="237744">
                <a:moveTo>
                  <a:pt x="201168" y="0"/>
                </a:moveTo>
                <a:lnTo>
                  <a:pt x="8257032" y="0"/>
                </a:lnTo>
                <a:lnTo>
                  <a:pt x="850392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11480"/>
            <a:ext cx="8229600" cy="685800"/>
          </a:xfrm>
          <a:prstGeom prst="rect">
            <a:avLst/>
          </a:prstGeom>
          <a:noFill/>
        </p:spPr>
        <p:txBody>
          <a:bodyPr wrap="square" lIns="0" rIns="0" tIns="0" bIns="0">
            <a:noAutofit/>
          </a:bodyPr>
          <a:lstStyle/>
          <a:p>
            <a:pPr algn="ctr"/>
            <a:r>
              <a:rPr sz="1800" b="1" i="0" u="none">
                <a:solidFill>
                  <a:srgbClr val="1F3864"/>
                </a:solidFill>
                <a:latin typeface="Times New Roman"/>
              </a:rPr>
              <a:t>Major Project Stage-1 First Review Presentation</a:t>
            </a:r>
          </a:p>
          <a:p>
            <a:pPr algn="ctr"/>
            <a:r>
              <a:rPr sz="1800" b="1" i="0" u="none">
                <a:solidFill>
                  <a:srgbClr val="1F3864"/>
                </a:solidFill>
                <a:latin typeface="Times New Roman"/>
              </a:rPr>
              <a:t>on</a:t>
            </a:r>
          </a:p>
        </p:txBody>
      </p:sp>
      <p:sp>
        <p:nvSpPr>
          <p:cNvPr id="7" name="TextBox 6"/>
          <p:cNvSpPr txBox="1"/>
          <p:nvPr/>
        </p:nvSpPr>
        <p:spPr>
          <a:xfrm>
            <a:off x="7589520" y="713232"/>
            <a:ext cx="1097280" cy="256032"/>
          </a:xfrm>
          <a:prstGeom prst="rect">
            <a:avLst/>
          </a:prstGeom>
          <a:noFill/>
        </p:spPr>
        <p:txBody>
          <a:bodyPr wrap="square" lIns="0" rIns="0" tIns="0" bIns="0">
            <a:noAutofit/>
          </a:bodyPr>
          <a:lstStyle/>
          <a:p>
            <a:pPr algn="r"/>
            <a:r>
              <a:rPr sz="1200" b="0" i="0" u="none">
                <a:solidFill>
                  <a:srgbClr val="000000"/>
                </a:solidFill>
                <a:latin typeface="Times New Roman"/>
              </a:rPr>
              <a:t>29-09-2026</a:t>
            </a:r>
          </a:p>
        </p:txBody>
      </p:sp>
      <p:sp>
        <p:nvSpPr>
          <p:cNvPr id="8" name="TextBox 7"/>
          <p:cNvSpPr txBox="1"/>
          <p:nvPr/>
        </p:nvSpPr>
        <p:spPr>
          <a:xfrm>
            <a:off x="365760" y="1024128"/>
            <a:ext cx="8412480" cy="914400"/>
          </a:xfrm>
          <a:prstGeom prst="rect">
            <a:avLst/>
          </a:prstGeom>
          <a:noFill/>
        </p:spPr>
        <p:txBody>
          <a:bodyPr wrap="square" lIns="0" rIns="0" tIns="0" bIns="0">
            <a:noAutofit/>
          </a:bodyPr>
          <a:lstStyle/>
          <a:p>
            <a:pPr algn="ctr"/>
            <a:r>
              <a:rPr sz="2400" b="1" i="0" u="none">
                <a:solidFill>
                  <a:srgbClr val="FF0000"/>
                </a:solidFill>
                <a:latin typeface="Times New Roman"/>
              </a:rPr>
              <a:t>Predictive Thermal Battery Management System</a:t>
            </a:r>
          </a:p>
          <a:p>
            <a:pPr algn="ctr"/>
            <a:r>
              <a:rPr sz="2400" b="1" i="0" u="none">
                <a:solidFill>
                  <a:srgbClr val="FF0000"/>
                </a:solidFill>
                <a:latin typeface="Times New Roman"/>
              </a:rPr>
              <a:t>for Li-ion Battery Packs</a:t>
            </a:r>
          </a:p>
        </p:txBody>
      </p:sp>
      <p:pic>
        <p:nvPicPr>
          <p:cNvPr id="9" name="Picture 8" descr="logo.png"/>
          <p:cNvPicPr>
            <a:picLocks noChangeAspect="1"/>
          </p:cNvPicPr>
          <p:nvPr/>
        </p:nvPicPr>
        <p:blipFill>
          <a:blip r:embed="rId2"/>
          <a:stretch>
            <a:fillRect/>
          </a:stretch>
        </p:blipFill>
        <p:spPr>
          <a:xfrm>
            <a:off x="4121328" y="1993392"/>
            <a:ext cx="901343" cy="1325880"/>
          </a:xfrm>
          <a:prstGeom prst="rect">
            <a:avLst/>
          </a:prstGeom>
        </p:spPr>
      </p:pic>
      <p:sp>
        <p:nvSpPr>
          <p:cNvPr id="10" name="TextBox 9"/>
          <p:cNvSpPr txBox="1"/>
          <p:nvPr/>
        </p:nvSpPr>
        <p:spPr>
          <a:xfrm>
            <a:off x="1417320" y="3611880"/>
            <a:ext cx="3474720" cy="1371600"/>
          </a:xfrm>
          <a:prstGeom prst="rect">
            <a:avLst/>
          </a:prstGeom>
          <a:noFill/>
        </p:spPr>
        <p:txBody>
          <a:bodyPr wrap="square" lIns="0" rIns="0" tIns="0" bIns="0">
            <a:noAutofit/>
          </a:bodyPr>
          <a:lstStyle/>
          <a:p>
            <a:r>
              <a:rPr sz="1800" b="1" i="0" u="none">
                <a:solidFill>
                  <a:srgbClr val="000000"/>
                </a:solidFill>
                <a:latin typeface="Times New Roman"/>
              </a:rPr>
              <a:t>Presented by</a:t>
            </a:r>
          </a:p>
          <a:p>
            <a:pPr>
              <a:spcBef>
                <a:spcPts val="400"/>
              </a:spcBef>
            </a:pPr>
            <a:r>
              <a:rPr sz="1600" b="0" i="0" u="none">
                <a:solidFill>
                  <a:srgbClr val="000000"/>
                </a:solidFill>
                <a:latin typeface="Times New Roman"/>
              </a:rPr>
              <a:t>Ms. Muskan Sulathana</a:t>
            </a:r>
          </a:p>
          <a:p>
            <a:pPr>
              <a:spcBef>
                <a:spcPts val="400"/>
              </a:spcBef>
            </a:pPr>
            <a:r>
              <a:rPr sz="1600" b="0" i="0" u="none">
                <a:solidFill>
                  <a:srgbClr val="000000"/>
                </a:solidFill>
                <a:latin typeface="Times New Roman"/>
              </a:rPr>
              <a:t>Roll No.  :  23WH1A0208</a:t>
            </a:r>
          </a:p>
        </p:txBody>
      </p:sp>
      <p:sp>
        <p:nvSpPr>
          <p:cNvPr id="11" name="TextBox 10"/>
          <p:cNvSpPr txBox="1"/>
          <p:nvPr/>
        </p:nvSpPr>
        <p:spPr>
          <a:xfrm>
            <a:off x="5120640" y="3611880"/>
            <a:ext cx="3291840" cy="1371600"/>
          </a:xfrm>
          <a:prstGeom prst="rect">
            <a:avLst/>
          </a:prstGeom>
          <a:noFill/>
        </p:spPr>
        <p:txBody>
          <a:bodyPr wrap="square" lIns="0" rIns="0" tIns="0" bIns="0">
            <a:noAutofit/>
          </a:bodyPr>
          <a:lstStyle/>
          <a:p>
            <a:pPr algn="ctr"/>
            <a:r>
              <a:rPr sz="1800" b="1" i="0" u="none">
                <a:solidFill>
                  <a:srgbClr val="000000"/>
                </a:solidFill>
                <a:latin typeface="Times New Roman"/>
              </a:rPr>
              <a:t>Guide</a:t>
            </a:r>
          </a:p>
          <a:p>
            <a:pPr algn="ctr">
              <a:spcBef>
                <a:spcPts val="200"/>
              </a:spcBef>
            </a:pPr>
            <a:r>
              <a:rPr sz="1600" b="0" i="0" u="none">
                <a:solidFill>
                  <a:srgbClr val="000000"/>
                </a:solidFill>
                <a:latin typeface="Times New Roman"/>
              </a:rPr>
              <a:t>Dr. M. Rupesh</a:t>
            </a:r>
          </a:p>
          <a:p>
            <a:pPr algn="ctr">
              <a:spcBef>
                <a:spcPts val="200"/>
              </a:spcBef>
            </a:pPr>
            <a:r>
              <a:rPr sz="1600" b="0" i="0" u="none">
                <a:solidFill>
                  <a:srgbClr val="000000"/>
                </a:solidFill>
                <a:latin typeface="Times New Roman"/>
              </a:rPr>
              <a:t>Associate Professor,</a:t>
            </a:r>
          </a:p>
          <a:p>
            <a:pPr algn="ctr">
              <a:spcBef>
                <a:spcPts val="200"/>
              </a:spcBef>
            </a:pPr>
            <a:r>
              <a:rPr sz="1600" b="0" i="0" u="none">
                <a:solidFill>
                  <a:srgbClr val="000000"/>
                </a:solidFill>
                <a:latin typeface="Times New Roman"/>
              </a:rPr>
              <a:t>EEE Department</a:t>
            </a:r>
          </a:p>
        </p:txBody>
      </p:sp>
      <p:sp>
        <p:nvSpPr>
          <p:cNvPr id="12" name="TextBox 11"/>
          <p:cNvSpPr txBox="1"/>
          <p:nvPr/>
        </p:nvSpPr>
        <p:spPr>
          <a:xfrm>
            <a:off x="274320" y="5440680"/>
            <a:ext cx="8595360" cy="822960"/>
          </a:xfrm>
          <a:prstGeom prst="rect">
            <a:avLst/>
          </a:prstGeom>
          <a:noFill/>
        </p:spPr>
        <p:txBody>
          <a:bodyPr wrap="square" lIns="0" rIns="0" tIns="0" bIns="0">
            <a:noAutofit/>
          </a:bodyPr>
          <a:lstStyle/>
          <a:p>
            <a:pPr algn="ctr"/>
            <a:r>
              <a:rPr sz="2200" b="1" i="0" u="none">
                <a:solidFill>
                  <a:srgbClr val="7F007F"/>
                </a:solidFill>
                <a:latin typeface="Times New Roman"/>
              </a:rPr>
              <a:t>Department of Electrical &amp; Electronics Engineering</a:t>
            </a:r>
          </a:p>
          <a:p>
            <a:pPr algn="ctr"/>
            <a:r>
              <a:rPr sz="2200" b="1" i="0" u="none">
                <a:solidFill>
                  <a:srgbClr val="1F3864"/>
                </a:solidFill>
                <a:latin typeface="Times New Roman"/>
              </a:rPr>
              <a:t>BVRIT HYDERABAD College of Engineering for Women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2</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Contents</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384048" indent="-384048" algn="just">
              <a:lnSpc>
                <a:spcPct val="110000"/>
              </a:lnSpc>
              <a:spcAft>
                <a:spcPts val="1300"/>
              </a:spcAft>
              <a:buNone/>
            </a:pPr>
            <a:r>
              <a:rPr sz="1800" b="0" i="0" u="none">
                <a:solidFill>
                  <a:srgbClr val="000000"/>
                </a:solidFill>
                <a:latin typeface="Times New Roman"/>
              </a:rPr>
              <a:t>1.  </a:t>
            </a:r>
            <a:r>
              <a:rPr sz="1800" b="0" i="0" u="none">
                <a:solidFill>
                  <a:srgbClr val="000000"/>
                </a:solidFill>
                <a:latin typeface="Times New Roman"/>
              </a:rPr>
              <a:t>Abstract</a:t>
            </a:r>
          </a:p>
          <a:p>
            <a:pPr marL="384048" indent="-384048" algn="just">
              <a:lnSpc>
                <a:spcPct val="110000"/>
              </a:lnSpc>
              <a:spcAft>
                <a:spcPts val="1300"/>
              </a:spcAft>
              <a:buNone/>
            </a:pPr>
            <a:r>
              <a:rPr sz="1800" b="0" i="0" u="none">
                <a:solidFill>
                  <a:srgbClr val="000000"/>
                </a:solidFill>
                <a:latin typeface="Times New Roman"/>
              </a:rPr>
              <a:t>2.  </a:t>
            </a:r>
            <a:r>
              <a:rPr sz="1800" b="0" i="0" u="none">
                <a:solidFill>
                  <a:srgbClr val="000000"/>
                </a:solidFill>
                <a:latin typeface="Times New Roman"/>
              </a:rPr>
              <a:t>Problem Statement</a:t>
            </a:r>
          </a:p>
          <a:p>
            <a:pPr marL="384048" indent="-384048" algn="just">
              <a:lnSpc>
                <a:spcPct val="110000"/>
              </a:lnSpc>
              <a:spcAft>
                <a:spcPts val="1300"/>
              </a:spcAft>
              <a:buNone/>
            </a:pPr>
            <a:r>
              <a:rPr sz="1800" b="0" i="0" u="none">
                <a:solidFill>
                  <a:srgbClr val="000000"/>
                </a:solidFill>
                <a:latin typeface="Times New Roman"/>
              </a:rPr>
              <a:t>3.  </a:t>
            </a:r>
            <a:r>
              <a:rPr sz="1800" b="0" i="0" u="none">
                <a:solidFill>
                  <a:srgbClr val="000000"/>
                </a:solidFill>
                <a:latin typeface="Times New Roman"/>
              </a:rPr>
              <a:t>Literature Survey</a:t>
            </a:r>
          </a:p>
          <a:p>
            <a:pPr marL="384048" indent="-384048" algn="just">
              <a:lnSpc>
                <a:spcPct val="110000"/>
              </a:lnSpc>
              <a:spcAft>
                <a:spcPts val="1300"/>
              </a:spcAft>
              <a:buNone/>
            </a:pPr>
            <a:r>
              <a:rPr sz="1800" b="0" i="0" u="none">
                <a:solidFill>
                  <a:srgbClr val="000000"/>
                </a:solidFill>
                <a:latin typeface="Times New Roman"/>
              </a:rPr>
              <a:t>4.  </a:t>
            </a:r>
            <a:r>
              <a:rPr sz="1800" b="0" i="0" u="none">
                <a:solidFill>
                  <a:srgbClr val="000000"/>
                </a:solidFill>
                <a:latin typeface="Times New Roman"/>
              </a:rPr>
              <a:t>Problem Analysis / Research Gap</a:t>
            </a:r>
          </a:p>
          <a:p>
            <a:pPr marL="384048" indent="-384048" algn="just">
              <a:lnSpc>
                <a:spcPct val="110000"/>
              </a:lnSpc>
              <a:spcAft>
                <a:spcPts val="1300"/>
              </a:spcAft>
              <a:buNone/>
            </a:pPr>
            <a:r>
              <a:rPr sz="1800" b="0" i="0" u="none">
                <a:solidFill>
                  <a:srgbClr val="000000"/>
                </a:solidFill>
                <a:latin typeface="Times New Roman"/>
              </a:rPr>
              <a:t>5.  </a:t>
            </a:r>
            <a:r>
              <a:rPr sz="1800" b="0" i="0" u="none">
                <a:solidFill>
                  <a:srgbClr val="000000"/>
                </a:solidFill>
                <a:latin typeface="Times New Roman"/>
              </a:rPr>
              <a:t>Objectives</a:t>
            </a:r>
          </a:p>
          <a:p>
            <a:pPr marL="384048" indent="-384048" algn="just">
              <a:lnSpc>
                <a:spcPct val="110000"/>
              </a:lnSpc>
              <a:spcAft>
                <a:spcPts val="1300"/>
              </a:spcAft>
              <a:buNone/>
            </a:pPr>
            <a:r>
              <a:rPr sz="1800" b="0" i="0" u="none">
                <a:solidFill>
                  <a:srgbClr val="000000"/>
                </a:solidFill>
                <a:latin typeface="Times New Roman"/>
              </a:rPr>
              <a:t>6.  </a:t>
            </a:r>
            <a:r>
              <a:rPr sz="1800" b="0" i="0" u="none">
                <a:solidFill>
                  <a:srgbClr val="000000"/>
                </a:solidFill>
                <a:latin typeface="Times New Roman"/>
              </a:rPr>
              <a:t>Methodology</a:t>
            </a:r>
          </a:p>
          <a:p>
            <a:pPr marL="384048" indent="-384048" algn="just">
              <a:lnSpc>
                <a:spcPct val="110000"/>
              </a:lnSpc>
              <a:spcAft>
                <a:spcPts val="1300"/>
              </a:spcAft>
              <a:buNone/>
            </a:pPr>
            <a:r>
              <a:rPr sz="1800" b="0" i="0" u="none">
                <a:solidFill>
                  <a:srgbClr val="000000"/>
                </a:solidFill>
                <a:latin typeface="Times New Roman"/>
              </a:rPr>
              <a:t>7.  </a:t>
            </a:r>
            <a:r>
              <a:rPr sz="1800" b="0" i="0" u="none">
                <a:solidFill>
                  <a:srgbClr val="000000"/>
                </a:solidFill>
                <a:latin typeface="Times New Roman"/>
              </a:rPr>
              <a:t>Block Diagram / Schematic Diagram</a:t>
            </a:r>
          </a:p>
          <a:p>
            <a:pPr marL="384048" indent="-384048" algn="just">
              <a:lnSpc>
                <a:spcPct val="110000"/>
              </a:lnSpc>
              <a:spcAft>
                <a:spcPts val="1300"/>
              </a:spcAft>
              <a:buNone/>
            </a:pPr>
            <a:r>
              <a:rPr sz="1800" b="0" i="0" u="none">
                <a:solidFill>
                  <a:srgbClr val="000000"/>
                </a:solidFill>
                <a:latin typeface="Times New Roman"/>
              </a:rPr>
              <a:t>8.  </a:t>
            </a:r>
            <a:r>
              <a:rPr sz="1800" b="0" i="0" u="none">
                <a:solidFill>
                  <a:srgbClr val="000000"/>
                </a:solidFill>
                <a:latin typeface="Times New Roman"/>
              </a:rPr>
              <a:t>Hardware and Software Requirements</a:t>
            </a:r>
          </a:p>
          <a:p>
            <a:pPr marL="384048" indent="-384048" algn="just">
              <a:lnSpc>
                <a:spcPct val="110000"/>
              </a:lnSpc>
              <a:spcAft>
                <a:spcPts val="1300"/>
              </a:spcAft>
              <a:buNone/>
            </a:pPr>
            <a:r>
              <a:rPr sz="1800" b="0" i="0" u="none">
                <a:solidFill>
                  <a:srgbClr val="000000"/>
                </a:solidFill>
                <a:latin typeface="Times New Roman"/>
              </a:rPr>
              <a:t>9.  </a:t>
            </a:r>
            <a:r>
              <a:rPr sz="1800" b="0" i="0" u="none">
                <a:solidFill>
                  <a:srgbClr val="000000"/>
                </a:solidFill>
                <a:latin typeface="Times New Roman"/>
              </a:rPr>
              <a:t>Project Timeline</a:t>
            </a:r>
          </a:p>
          <a:p>
            <a:pPr marL="384048" indent="-384048" algn="just">
              <a:lnSpc>
                <a:spcPct val="110000"/>
              </a:lnSpc>
              <a:spcAft>
                <a:spcPts val="1300"/>
              </a:spcAft>
              <a:buNone/>
            </a:pPr>
            <a:r>
              <a:rPr sz="1800" b="0" i="0" u="none">
                <a:solidFill>
                  <a:srgbClr val="000000"/>
                </a:solidFill>
                <a:latin typeface="Times New Roman"/>
              </a:rPr>
              <a:t>10.  </a:t>
            </a:r>
            <a:r>
              <a:rPr sz="1800" b="0" i="0" u="none">
                <a:solidFill>
                  <a:srgbClr val="000000"/>
                </a:solidFill>
                <a:latin typeface="Times New Roman"/>
              </a:rPr>
              <a:t>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3</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Abstract</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283464" indent="-283464" algn="just">
              <a:lnSpc>
                <a:spcPct val="110000"/>
              </a:lnSpc>
              <a:spcAft>
                <a:spcPts val="2000"/>
              </a:spcAft>
              <a:buFont typeface="Arial"/>
              <a:buChar char="•"/>
            </a:pPr>
            <a:r>
              <a:rPr sz="1700" b="0" i="0" u="none">
                <a:solidFill>
                  <a:srgbClr val="000000"/>
                </a:solidFill>
                <a:latin typeface="Times New Roman"/>
              </a:rPr>
              <a:t>Lithium-ion cells store a lot of energy in a small space. A cell that overheats can go into thermal runaway, where the heat it makes drives it hotter still.</a:t>
            </a:r>
          </a:p>
          <a:p>
            <a:pPr marL="283464" indent="-283464" algn="just">
              <a:lnSpc>
                <a:spcPct val="110000"/>
              </a:lnSpc>
              <a:spcAft>
                <a:spcPts val="2000"/>
              </a:spcAft>
              <a:buFont typeface="Arial"/>
              <a:buChar char="•"/>
            </a:pPr>
            <a:r>
              <a:rPr sz="1700" b="0" i="0" u="none">
                <a:solidFill>
                  <a:srgbClr val="000000"/>
                </a:solidFill>
                <a:latin typeface="Times New Roman"/>
              </a:rPr>
              <a:t>Most low-cost battery protection boards act only on voltage and current, and treat temperature, if at all, as one fixed limit that is reached late.</a:t>
            </a:r>
          </a:p>
          <a:p>
            <a:pPr marL="283464" indent="-283464" algn="just">
              <a:lnSpc>
                <a:spcPct val="110000"/>
              </a:lnSpc>
              <a:spcAft>
                <a:spcPts val="2000"/>
              </a:spcAft>
              <a:buFont typeface="Arial"/>
              <a:buChar char="•"/>
            </a:pPr>
            <a:r>
              <a:rPr sz="1700" b="0" i="0" u="none">
                <a:solidFill>
                  <a:srgbClr val="000000"/>
                </a:solidFill>
                <a:latin typeface="Times New Roman"/>
              </a:rPr>
              <a:t>This project builds a predictive thermal battery management system for a 4S1P pack of NCR18650GA cells, with two protection layers that work independently.</a:t>
            </a:r>
          </a:p>
          <a:p>
            <a:pPr marL="283464" indent="-283464" algn="just">
              <a:lnSpc>
                <a:spcPct val="110000"/>
              </a:lnSpc>
              <a:spcAft>
                <a:spcPts val="2000"/>
              </a:spcAft>
              <a:buFont typeface="Arial"/>
              <a:buChar char="•"/>
            </a:pPr>
            <a:r>
              <a:rPr sz="1700" b="0" i="0" u="none">
                <a:solidFill>
                  <a:srgbClr val="000000"/>
                </a:solidFill>
                <a:latin typeface="Times New Roman"/>
              </a:rPr>
              <a:t>A hardware BMS gives over-voltage, under-voltage, over-current and short-circuit protection. An ESP32 measures every cell voltage, the pack current and the cell and air temperatures, and uses a thermal model to predict how fast each cell should heat.</a:t>
            </a:r>
          </a:p>
          <a:p>
            <a:pPr marL="283464" indent="-283464" algn="just">
              <a:lnSpc>
                <a:spcPct val="110000"/>
              </a:lnSpc>
              <a:spcAft>
                <a:spcPts val="2000"/>
              </a:spcAft>
              <a:buFont typeface="Arial"/>
              <a:buChar char="•"/>
            </a:pPr>
            <a:r>
              <a:rPr sz="1700" b="0" i="0" u="none">
                <a:solidFill>
                  <a:srgbClr val="000000"/>
                </a:solidFill>
                <a:latin typeface="Times New Roman"/>
              </a:rPr>
              <a:t>When a cell heats faster than the current explains, or a reading crosses a limit, the ESP32 opens the charge or load relay and latches the fault. Readings are shown on a Wi-Fi dashboard that is not part of the safety chain.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4</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Problem Statement</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283464" indent="-283464" algn="just">
              <a:lnSpc>
                <a:spcPct val="110000"/>
              </a:lnSpc>
              <a:spcAft>
                <a:spcPts val="2000"/>
              </a:spcAft>
              <a:buFont typeface="Arial"/>
              <a:buChar char="•"/>
            </a:pPr>
            <a:r>
              <a:rPr sz="1700" b="0" i="0" u="none">
                <a:solidFill>
                  <a:srgbClr val="000000"/>
                </a:solidFill>
                <a:latin typeface="Times New Roman"/>
              </a:rPr>
              <a:t>Lithium-ion packs are used in more and more devices, and one overheating cell can lead to fire or explosion through thermal runaway.</a:t>
            </a:r>
          </a:p>
          <a:p>
            <a:pPr marL="283464" indent="-283464" algn="just">
              <a:lnSpc>
                <a:spcPct val="110000"/>
              </a:lnSpc>
              <a:spcAft>
                <a:spcPts val="2000"/>
              </a:spcAft>
              <a:buFont typeface="Arial"/>
              <a:buChar char="•"/>
            </a:pPr>
            <a:r>
              <a:rPr sz="1700" b="0" i="0" u="none">
                <a:solidFill>
                  <a:srgbClr val="000000"/>
                </a:solidFill>
                <a:latin typeface="Times New Roman"/>
              </a:rPr>
              <a:t>Most low-cost protection boards act only on voltage and current. Temperature, if it is checked at all, is compared with one fixed limit.</a:t>
            </a:r>
          </a:p>
          <a:p>
            <a:pPr marL="283464" indent="-283464" algn="just">
              <a:lnSpc>
                <a:spcPct val="110000"/>
              </a:lnSpc>
              <a:spcAft>
                <a:spcPts val="2000"/>
              </a:spcAft>
              <a:buFont typeface="Arial"/>
              <a:buChar char="•"/>
            </a:pPr>
            <a:r>
              <a:rPr sz="1700" b="0" i="0" u="none">
                <a:solidFill>
                  <a:srgbClr val="000000"/>
                </a:solidFill>
                <a:latin typeface="Times New Roman"/>
              </a:rPr>
              <a:t>A fixed limit acts only once the cell is already hot. A cell that is steadily heating at a normal temperature passes it with no warning.</a:t>
            </a:r>
          </a:p>
          <a:p>
            <a:pPr marL="283464" indent="-283464" algn="just">
              <a:lnSpc>
                <a:spcPct val="110000"/>
              </a:lnSpc>
              <a:spcAft>
                <a:spcPts val="2000"/>
              </a:spcAft>
              <a:buFont typeface="Arial"/>
              <a:buChar char="•"/>
            </a:pPr>
            <a:r>
              <a:rPr sz="1700" b="0" i="0" u="none">
                <a:solidFill>
                  <a:srgbClr val="000000"/>
                </a:solidFill>
                <a:latin typeface="Times New Roman"/>
              </a:rPr>
              <a:t>When protection depends on a single microcontroller, a firmware crash or a failed sensor can leave the pack unprotected.</a:t>
            </a:r>
          </a:p>
          <a:p>
            <a:pPr marL="283464" indent="-283464" algn="just">
              <a:lnSpc>
                <a:spcPct val="110000"/>
              </a:lnSpc>
              <a:spcAft>
                <a:spcPts val="2000"/>
              </a:spcAft>
              <a:buFont typeface="Arial"/>
              <a:buChar char="•"/>
            </a:pPr>
            <a:r>
              <a:rPr sz="1700" b="0" i="0" u="none">
                <a:solidFill>
                  <a:srgbClr val="000000"/>
                </a:solidFill>
                <a:latin typeface="Times New Roman"/>
              </a:rPr>
              <a:t>A system is needed that watches the temperature trend, stops only the unsafe direction of current, and still protects the pack if the software fails.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5</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Literature Survey</a:t>
            </a:r>
          </a:p>
        </p:txBody>
      </p:sp>
      <p:graphicFrame>
        <p:nvGraphicFramePr>
          <p:cNvPr id="8" name="Table 7"/>
          <p:cNvGraphicFramePr>
            <a:graphicFrameLocks noGrp="1"/>
          </p:cNvGraphicFramePr>
          <p:nvPr/>
        </p:nvGraphicFramePr>
        <p:xfrm>
          <a:off x="320040" y="1261872"/>
          <a:ext cx="8503920" cy="4718304"/>
        </p:xfrm>
        <a:graphic>
          <a:graphicData uri="http://schemas.openxmlformats.org/drawingml/2006/table">
            <a:tbl>
              <a:tblPr firstRow="1">
                <a:tableStyleId>{5C22544A-7EE6-4342-B048-85BDC9FD1C3A}</a:tableStyleId>
              </a:tblPr>
              <a:tblGrid>
                <a:gridCol w="548640"/>
                <a:gridCol w="2377440"/>
                <a:gridCol w="2788920"/>
                <a:gridCol w="2788920"/>
              </a:tblGrid>
              <a:tr h="786384">
                <a:tc>
                  <a:txBody>
                    <a:bodyPr/>
                    <a:lstStyle/>
                    <a:p>
                      <a:pPr algn="ctr"/>
                      <a:r>
                        <a:rPr sz="1300" b="1" i="0" u="none">
                          <a:solidFill>
                            <a:srgbClr val="FFFFFF"/>
                          </a:solidFill>
                          <a:latin typeface="Times New Roman"/>
                        </a:rPr>
                        <a:t>S.No</a:t>
                      </a:r>
                    </a:p>
                  </a:txBody>
                  <a:tcPr anchor="ctr" marL="64008" marR="64008">
                    <a:solidFill>
                      <a:srgbClr val="4F81BD"/>
                    </a:solidFill>
                  </a:tcPr>
                </a:tc>
                <a:tc>
                  <a:txBody>
                    <a:bodyPr/>
                    <a:lstStyle/>
                    <a:p>
                      <a:pPr algn="ctr"/>
                      <a:r>
                        <a:rPr sz="1300" b="1" i="0" u="none">
                          <a:solidFill>
                            <a:srgbClr val="FFFFFF"/>
                          </a:solidFill>
                          <a:latin typeface="Times New Roman"/>
                        </a:rPr>
                        <a:t>Paper Title</a:t>
                      </a:r>
                    </a:p>
                  </a:txBody>
                  <a:tcPr anchor="ctr" marL="64008" marR="64008">
                    <a:solidFill>
                      <a:srgbClr val="4F81BD"/>
                    </a:solidFill>
                  </a:tcPr>
                </a:tc>
                <a:tc>
                  <a:txBody>
                    <a:bodyPr/>
                    <a:lstStyle/>
                    <a:p>
                      <a:pPr algn="ctr"/>
                      <a:r>
                        <a:rPr sz="1300" b="1" i="0" u="none">
                          <a:solidFill>
                            <a:srgbClr val="FFFFFF"/>
                          </a:solidFill>
                          <a:latin typeface="Times New Roman"/>
                        </a:rPr>
                        <a:t>Outcomes</a:t>
                      </a:r>
                    </a:p>
                  </a:txBody>
                  <a:tcPr anchor="ctr" marL="64008" marR="64008">
                    <a:solidFill>
                      <a:srgbClr val="4F81BD"/>
                    </a:solidFill>
                  </a:tcPr>
                </a:tc>
                <a:tc>
                  <a:txBody>
                    <a:bodyPr/>
                    <a:lstStyle/>
                    <a:p>
                      <a:pPr algn="ctr"/>
                      <a:r>
                        <a:rPr sz="1300" b="1" i="0" u="none">
                          <a:solidFill>
                            <a:srgbClr val="FFFFFF"/>
                          </a:solidFill>
                          <a:latin typeface="Times New Roman"/>
                        </a:rPr>
                        <a:t>Limitation / Research Gap</a:t>
                      </a:r>
                    </a:p>
                  </a:txBody>
                  <a:tcPr anchor="ctr" marL="64008" marR="64008">
                    <a:solidFill>
                      <a:srgbClr val="4F81BD"/>
                    </a:solidFill>
                  </a:tcPr>
                </a:tc>
              </a:tr>
              <a:tr h="786384">
                <a:tc>
                  <a:txBody>
                    <a:bodyPr/>
                    <a:lstStyle/>
                    <a:p>
                      <a:pPr algn="ctr"/>
                      <a:r>
                        <a:rPr sz="1200" b="1" i="0" u="none">
                          <a:solidFill>
                            <a:srgbClr val="000000"/>
                          </a:solidFill>
                          <a:latin typeface="Times New Roman"/>
                        </a:rPr>
                        <a:t>[1]</a:t>
                      </a:r>
                    </a:p>
                  </a:txBody>
                  <a:tcPr anchor="ctr" marL="64008" marR="64008" marT="27432" marB="27432">
                    <a:solidFill>
                      <a:srgbClr val="D0D8E8"/>
                    </a:solidFill>
                  </a:tcPr>
                </a:tc>
                <a:tc>
                  <a:txBody>
                    <a:bodyPr/>
                    <a:lstStyle/>
                    <a:p>
                      <a:pPr algn="l"/>
                      <a:r>
                        <a:rPr sz="1200" b="0" i="0" u="none">
                          <a:solidFill>
                            <a:srgbClr val="000000"/>
                          </a:solidFill>
                          <a:latin typeface="Times New Roman"/>
                        </a:rPr>
                        <a:t>Thermal runaway mechanism of lithium ion battery for electric vehicles: A review</a:t>
                      </a:r>
                    </a:p>
                  </a:txBody>
                  <a:tcPr anchor="ctr" marL="64008" marR="64008" marT="27432" marB="27432">
                    <a:solidFill>
                      <a:srgbClr val="D0D8E8"/>
                    </a:solidFill>
                  </a:tcPr>
                </a:tc>
                <a:tc>
                  <a:txBody>
                    <a:bodyPr/>
                    <a:lstStyle/>
                    <a:p>
                      <a:pPr algn="l"/>
                      <a:r>
                        <a:rPr sz="1200" b="0" i="0" u="none">
                          <a:solidFill>
                            <a:srgbClr val="000000"/>
                          </a:solidFill>
                          <a:latin typeface="Times New Roman"/>
                        </a:rPr>
                        <a:t>Reviewed how thermal runaway starts and spreads through a chain of heat-producing reactions inside the cell.</a:t>
                      </a:r>
                    </a:p>
                  </a:txBody>
                  <a:tcPr anchor="ctr" marL="64008" marR="64008" marT="27432" marB="27432">
                    <a:solidFill>
                      <a:srgbClr val="D0D8E8"/>
                    </a:solidFill>
                  </a:tcPr>
                </a:tc>
                <a:tc>
                  <a:txBody>
                    <a:bodyPr/>
                    <a:lstStyle/>
                    <a:p>
                      <a:pPr algn="l"/>
                      <a:r>
                        <a:rPr sz="1200" b="0" i="0" u="none">
                          <a:solidFill>
                            <a:srgbClr val="000000"/>
                          </a:solidFill>
                          <a:latin typeface="Times New Roman"/>
                        </a:rPr>
                        <a:t>Explains the mechanism, but does not give an on-board method to detect it early.</a:t>
                      </a:r>
                    </a:p>
                  </a:txBody>
                  <a:tcPr anchor="ctr" marL="64008" marR="64008" marT="27432" marB="27432">
                    <a:solidFill>
                      <a:srgbClr val="D0D8E8"/>
                    </a:solidFill>
                  </a:tcPr>
                </a:tc>
              </a:tr>
              <a:tr h="786384">
                <a:tc>
                  <a:txBody>
                    <a:bodyPr/>
                    <a:lstStyle/>
                    <a:p>
                      <a:pPr algn="ctr"/>
                      <a:r>
                        <a:rPr sz="1200" b="1" i="0" u="none">
                          <a:solidFill>
                            <a:srgbClr val="000000"/>
                          </a:solidFill>
                          <a:latin typeface="Times New Roman"/>
                        </a:rPr>
                        <a:t>[2]</a:t>
                      </a:r>
                    </a:p>
                  </a:txBody>
                  <a:tcPr anchor="ctr" marL="64008" marR="64008" marT="27432" marB="27432">
                    <a:solidFill>
                      <a:srgbClr val="D0D8E8"/>
                    </a:solidFill>
                  </a:tcPr>
                </a:tc>
                <a:tc>
                  <a:txBody>
                    <a:bodyPr/>
                    <a:lstStyle/>
                    <a:p>
                      <a:pPr algn="l"/>
                      <a:r>
                        <a:rPr sz="1200" b="0" i="0" u="none">
                          <a:solidFill>
                            <a:srgbClr val="000000"/>
                          </a:solidFill>
                          <a:latin typeface="Times New Roman"/>
                        </a:rPr>
                        <a:t>Battery management system: An overview of its application in the smart grid and electric vehicles</a:t>
                      </a:r>
                    </a:p>
                  </a:txBody>
                  <a:tcPr anchor="ctr" marL="64008" marR="64008" marT="27432" marB="27432">
                    <a:solidFill>
                      <a:srgbClr val="D0D8E8"/>
                    </a:solidFill>
                  </a:tcPr>
                </a:tc>
                <a:tc>
                  <a:txBody>
                    <a:bodyPr/>
                    <a:lstStyle/>
                    <a:p>
                      <a:pPr algn="l"/>
                      <a:r>
                        <a:rPr sz="1200" b="0" i="0" u="none">
                          <a:solidFill>
                            <a:srgbClr val="000000"/>
                          </a:solidFill>
                          <a:latin typeface="Times New Roman"/>
                        </a:rPr>
                        <a:t>Showed that a BMS needs accurate state estimation and ways to protect the battery from hazardous conditions.</a:t>
                      </a:r>
                    </a:p>
                  </a:txBody>
                  <a:tcPr anchor="ctr" marL="64008" marR="64008" marT="27432" marB="27432">
                    <a:solidFill>
                      <a:srgbClr val="D0D8E8"/>
                    </a:solidFill>
                  </a:tcPr>
                </a:tc>
                <a:tc>
                  <a:txBody>
                    <a:bodyPr/>
                    <a:lstStyle/>
                    <a:p>
                      <a:pPr algn="l"/>
                      <a:r>
                        <a:rPr sz="1200" b="0" i="0" u="none">
                          <a:solidFill>
                            <a:srgbClr val="000000"/>
                          </a:solidFill>
                          <a:latin typeface="Times New Roman"/>
                        </a:rPr>
                        <a:t>Focuses on state-of-charge and state-of-health estimation, not on early warning from temperature.</a:t>
                      </a:r>
                    </a:p>
                  </a:txBody>
                  <a:tcPr anchor="ctr" marL="64008" marR="64008" marT="27432" marB="27432">
                    <a:solidFill>
                      <a:srgbClr val="D0D8E8"/>
                    </a:solidFill>
                  </a:tcPr>
                </a:tc>
              </a:tr>
              <a:tr h="786384">
                <a:tc>
                  <a:txBody>
                    <a:bodyPr/>
                    <a:lstStyle/>
                    <a:p>
                      <a:pPr algn="ctr"/>
                      <a:r>
                        <a:rPr sz="1200" b="1" i="0" u="none">
                          <a:solidFill>
                            <a:srgbClr val="000000"/>
                          </a:solidFill>
                          <a:latin typeface="Times New Roman"/>
                        </a:rPr>
                        <a:t>[3]</a:t>
                      </a:r>
                    </a:p>
                  </a:txBody>
                  <a:tcPr anchor="ctr" marL="64008" marR="64008" marT="27432" marB="27432">
                    <a:solidFill>
                      <a:srgbClr val="D0D8E8"/>
                    </a:solidFill>
                  </a:tcPr>
                </a:tc>
                <a:tc>
                  <a:txBody>
                    <a:bodyPr/>
                    <a:lstStyle/>
                    <a:p>
                      <a:pPr algn="l"/>
                      <a:r>
                        <a:rPr sz="1200" b="0" i="0" u="none">
                          <a:solidFill>
                            <a:srgbClr val="000000"/>
                          </a:solidFill>
                          <a:latin typeface="Times New Roman"/>
                        </a:rPr>
                        <a:t>Protection devices in commercial 18650 lithium-ion batteries</a:t>
                      </a:r>
                    </a:p>
                  </a:txBody>
                  <a:tcPr anchor="ctr" marL="64008" marR="64008" marT="27432" marB="27432">
                    <a:solidFill>
                      <a:srgbClr val="D0D8E8"/>
                    </a:solidFill>
                  </a:tcPr>
                </a:tc>
                <a:tc>
                  <a:txBody>
                    <a:bodyPr/>
                    <a:lstStyle/>
                    <a:p>
                      <a:pPr algn="l"/>
                      <a:r>
                        <a:rPr sz="1200" b="0" i="0" u="none">
                          <a:solidFill>
                            <a:srgbClr val="000000"/>
                          </a:solidFill>
                          <a:latin typeface="Times New Roman"/>
                        </a:rPr>
                        <a:t>Opened four commercial 18650 cells. Only the current interrupt device and the top vent are fitted in every cell.</a:t>
                      </a:r>
                    </a:p>
                  </a:txBody>
                  <a:tcPr anchor="ctr" marL="64008" marR="64008" marT="27432" marB="27432">
                    <a:solidFill>
                      <a:srgbClr val="D0D8E8"/>
                    </a:solidFill>
                  </a:tcPr>
                </a:tc>
                <a:tc>
                  <a:txBody>
                    <a:bodyPr/>
                    <a:lstStyle/>
                    <a:p>
                      <a:pPr algn="l"/>
                      <a:r>
                        <a:rPr sz="1200" b="0" i="0" u="none">
                          <a:solidFill>
                            <a:srgbClr val="000000"/>
                          </a:solidFill>
                          <a:latin typeface="Times New Roman"/>
                        </a:rPr>
                        <a:t>These are last-resort devices inside the cell. Pack-level monitoring and early warning are not covered.</a:t>
                      </a:r>
                    </a:p>
                  </a:txBody>
                  <a:tcPr anchor="ctr" marL="64008" marR="64008" marT="27432" marB="27432">
                    <a:solidFill>
                      <a:srgbClr val="D0D8E8"/>
                    </a:solidFill>
                  </a:tcPr>
                </a:tc>
              </a:tr>
              <a:tr h="786384">
                <a:tc>
                  <a:txBody>
                    <a:bodyPr/>
                    <a:lstStyle/>
                    <a:p>
                      <a:pPr algn="ctr"/>
                      <a:r>
                        <a:rPr sz="1200" b="1" i="0" u="none">
                          <a:solidFill>
                            <a:srgbClr val="000000"/>
                          </a:solidFill>
                          <a:latin typeface="Times New Roman"/>
                        </a:rPr>
                        <a:t>[4]</a:t>
                      </a:r>
                    </a:p>
                  </a:txBody>
                  <a:tcPr anchor="ctr" marL="64008" marR="64008" marT="27432" marB="27432">
                    <a:solidFill>
                      <a:srgbClr val="D0D8E8"/>
                    </a:solidFill>
                  </a:tcPr>
                </a:tc>
                <a:tc>
                  <a:txBody>
                    <a:bodyPr/>
                    <a:lstStyle/>
                    <a:p>
                      <a:pPr algn="l"/>
                      <a:r>
                        <a:rPr sz="1200" b="0" i="0" u="none">
                          <a:solidFill>
                            <a:srgbClr val="000000"/>
                          </a:solidFill>
                          <a:latin typeface="Times New Roman"/>
                        </a:rPr>
                        <a:t>Advanced fault diagnosis for lithium-ion battery systems: A review of fault mechanisms, fault features, and diagnosis procedures</a:t>
                      </a:r>
                    </a:p>
                  </a:txBody>
                  <a:tcPr anchor="ctr" marL="64008" marR="64008" marT="27432" marB="27432">
                    <a:solidFill>
                      <a:srgbClr val="D0D8E8"/>
                    </a:solidFill>
                  </a:tcPr>
                </a:tc>
                <a:tc>
                  <a:txBody>
                    <a:bodyPr/>
                    <a:lstStyle/>
                    <a:p>
                      <a:pPr algn="l"/>
                      <a:r>
                        <a:rPr sz="1200" b="0" i="0" u="none">
                          <a:solidFill>
                            <a:srgbClr val="000000"/>
                          </a:solidFill>
                          <a:latin typeface="Times New Roman"/>
                        </a:rPr>
                        <a:t>Reviewed internal battery faults, sensor faults and actuator faults, and how each one can be diagnosed.</a:t>
                      </a:r>
                    </a:p>
                  </a:txBody>
                  <a:tcPr anchor="ctr" marL="64008" marR="64008" marT="27432" marB="27432">
                    <a:solidFill>
                      <a:srgbClr val="D0D8E8"/>
                    </a:solidFill>
                  </a:tcPr>
                </a:tc>
                <a:tc>
                  <a:txBody>
                    <a:bodyPr/>
                    <a:lstStyle/>
                    <a:p>
                      <a:pPr algn="l"/>
                      <a:r>
                        <a:rPr sz="1200" b="0" i="0" u="none">
                          <a:solidFill>
                            <a:srgbClr val="000000"/>
                          </a:solidFill>
                          <a:latin typeface="Times New Roman"/>
                        </a:rPr>
                        <a:t>A review only. It does not build or test a low-cost diagnostic system.</a:t>
                      </a:r>
                    </a:p>
                  </a:txBody>
                  <a:tcPr anchor="ctr" marL="64008" marR="64008" marT="27432" marB="27432">
                    <a:solidFill>
                      <a:srgbClr val="D0D8E8"/>
                    </a:solidFill>
                  </a:tcPr>
                </a:tc>
              </a:tr>
              <a:tr h="786384">
                <a:tc>
                  <a:txBody>
                    <a:bodyPr/>
                    <a:lstStyle/>
                    <a:p>
                      <a:pPr algn="ctr"/>
                      <a:r>
                        <a:rPr sz="1200" b="1" i="0" u="none">
                          <a:solidFill>
                            <a:srgbClr val="000000"/>
                          </a:solidFill>
                          <a:latin typeface="Times New Roman"/>
                        </a:rPr>
                        <a:t>[5]</a:t>
                      </a:r>
                    </a:p>
                  </a:txBody>
                  <a:tcPr anchor="ctr" marL="64008" marR="64008" marT="27432" marB="27432">
                    <a:solidFill>
                      <a:srgbClr val="D0D8E8"/>
                    </a:solidFill>
                  </a:tcPr>
                </a:tc>
                <a:tc>
                  <a:txBody>
                    <a:bodyPr/>
                    <a:lstStyle/>
                    <a:p>
                      <a:pPr algn="l"/>
                      <a:r>
                        <a:rPr sz="1200" b="0" i="0" u="none">
                          <a:solidFill>
                            <a:srgbClr val="000000"/>
                          </a:solidFill>
                          <a:latin typeface="Times New Roman"/>
                        </a:rPr>
                        <a:t>A critical review of thermal runaway prediction and early-warning methods for lithium-ion batteries</a:t>
                      </a:r>
                    </a:p>
                  </a:txBody>
                  <a:tcPr anchor="ctr" marL="64008" marR="64008" marT="27432" marB="27432">
                    <a:solidFill>
                      <a:srgbClr val="D0D8E8"/>
                    </a:solidFill>
                  </a:tcPr>
                </a:tc>
                <a:tc>
                  <a:txBody>
                    <a:bodyPr/>
                    <a:lstStyle/>
                    <a:p>
                      <a:pPr algn="l"/>
                      <a:r>
                        <a:rPr sz="1200" b="0" i="0" u="none">
                          <a:solidFill>
                            <a:srgbClr val="000000"/>
                          </a:solidFill>
                          <a:latin typeface="Times New Roman"/>
                        </a:rPr>
                        <a:t>Grouped early-warning methods into electrochemistry-based, big-data and artificial intelligence methods.</a:t>
                      </a:r>
                    </a:p>
                  </a:txBody>
                  <a:tcPr anchor="ctr" marL="64008" marR="64008" marT="27432" marB="27432">
                    <a:solidFill>
                      <a:srgbClr val="D0D8E8"/>
                    </a:solidFill>
                  </a:tcPr>
                </a:tc>
                <a:tc>
                  <a:txBody>
                    <a:bodyPr/>
                    <a:lstStyle/>
                    <a:p>
                      <a:pPr algn="l"/>
                      <a:r>
                        <a:rPr sz="1200" b="0" i="0" u="none">
                          <a:solidFill>
                            <a:srgbClr val="000000"/>
                          </a:solidFill>
                          <a:latin typeface="Times New Roman"/>
                        </a:rPr>
                        <a:t>The groups it describes rely on detailed models, large data sets or AI training, not a simple on-board check.</a:t>
                      </a:r>
                    </a:p>
                  </a:txBody>
                  <a:tcPr anchor="ctr" marL="64008" marR="64008" marT="27432" marB="27432">
                    <a:solidFill>
                      <a:srgbClr val="D0D8E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6</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Literature Survey (contd.)</a:t>
            </a:r>
          </a:p>
        </p:txBody>
      </p:sp>
      <p:graphicFrame>
        <p:nvGraphicFramePr>
          <p:cNvPr id="8" name="Table 7"/>
          <p:cNvGraphicFramePr>
            <a:graphicFrameLocks noGrp="1"/>
          </p:cNvGraphicFramePr>
          <p:nvPr/>
        </p:nvGraphicFramePr>
        <p:xfrm>
          <a:off x="320040" y="1261872"/>
          <a:ext cx="8503920" cy="4718304"/>
        </p:xfrm>
        <a:graphic>
          <a:graphicData uri="http://schemas.openxmlformats.org/drawingml/2006/table">
            <a:tbl>
              <a:tblPr firstRow="1">
                <a:tableStyleId>{5C22544A-7EE6-4342-B048-85BDC9FD1C3A}</a:tableStyleId>
              </a:tblPr>
              <a:tblGrid>
                <a:gridCol w="548640"/>
                <a:gridCol w="2377440"/>
                <a:gridCol w="2788920"/>
                <a:gridCol w="2788920"/>
              </a:tblGrid>
              <a:tr h="786384">
                <a:tc>
                  <a:txBody>
                    <a:bodyPr/>
                    <a:lstStyle/>
                    <a:p>
                      <a:pPr algn="ctr"/>
                      <a:r>
                        <a:rPr sz="1300" b="1" i="0" u="none">
                          <a:solidFill>
                            <a:srgbClr val="FFFFFF"/>
                          </a:solidFill>
                          <a:latin typeface="Times New Roman"/>
                        </a:rPr>
                        <a:t>S.No</a:t>
                      </a:r>
                    </a:p>
                  </a:txBody>
                  <a:tcPr anchor="ctr" marL="64008" marR="64008">
                    <a:solidFill>
                      <a:srgbClr val="4F81BD"/>
                    </a:solidFill>
                  </a:tcPr>
                </a:tc>
                <a:tc>
                  <a:txBody>
                    <a:bodyPr/>
                    <a:lstStyle/>
                    <a:p>
                      <a:pPr algn="ctr"/>
                      <a:r>
                        <a:rPr sz="1300" b="1" i="0" u="none">
                          <a:solidFill>
                            <a:srgbClr val="FFFFFF"/>
                          </a:solidFill>
                          <a:latin typeface="Times New Roman"/>
                        </a:rPr>
                        <a:t>Paper Title</a:t>
                      </a:r>
                    </a:p>
                  </a:txBody>
                  <a:tcPr anchor="ctr" marL="64008" marR="64008">
                    <a:solidFill>
                      <a:srgbClr val="4F81BD"/>
                    </a:solidFill>
                  </a:tcPr>
                </a:tc>
                <a:tc>
                  <a:txBody>
                    <a:bodyPr/>
                    <a:lstStyle/>
                    <a:p>
                      <a:pPr algn="ctr"/>
                      <a:r>
                        <a:rPr sz="1300" b="1" i="0" u="none">
                          <a:solidFill>
                            <a:srgbClr val="FFFFFF"/>
                          </a:solidFill>
                          <a:latin typeface="Times New Roman"/>
                        </a:rPr>
                        <a:t>Outcomes</a:t>
                      </a:r>
                    </a:p>
                  </a:txBody>
                  <a:tcPr anchor="ctr" marL="64008" marR="64008">
                    <a:solidFill>
                      <a:srgbClr val="4F81BD"/>
                    </a:solidFill>
                  </a:tcPr>
                </a:tc>
                <a:tc>
                  <a:txBody>
                    <a:bodyPr/>
                    <a:lstStyle/>
                    <a:p>
                      <a:pPr algn="ctr"/>
                      <a:r>
                        <a:rPr sz="1300" b="1" i="0" u="none">
                          <a:solidFill>
                            <a:srgbClr val="FFFFFF"/>
                          </a:solidFill>
                          <a:latin typeface="Times New Roman"/>
                        </a:rPr>
                        <a:t>Limitation / Research Gap</a:t>
                      </a:r>
                    </a:p>
                  </a:txBody>
                  <a:tcPr anchor="ctr" marL="64008" marR="64008">
                    <a:solidFill>
                      <a:srgbClr val="4F81BD"/>
                    </a:solidFill>
                  </a:tcPr>
                </a:tc>
              </a:tr>
              <a:tr h="786384">
                <a:tc>
                  <a:txBody>
                    <a:bodyPr/>
                    <a:lstStyle/>
                    <a:p>
                      <a:pPr algn="ctr"/>
                      <a:r>
                        <a:rPr sz="1200" b="1" i="0" u="none">
                          <a:solidFill>
                            <a:srgbClr val="000000"/>
                          </a:solidFill>
                          <a:latin typeface="Times New Roman"/>
                        </a:rPr>
                        <a:t>[6]</a:t>
                      </a:r>
                    </a:p>
                  </a:txBody>
                  <a:tcPr anchor="ctr" marL="64008" marR="64008" marT="27432" marB="27432">
                    <a:solidFill>
                      <a:srgbClr val="D0D8E8"/>
                    </a:solidFill>
                  </a:tcPr>
                </a:tc>
                <a:tc>
                  <a:txBody>
                    <a:bodyPr/>
                    <a:lstStyle/>
                    <a:p>
                      <a:pPr algn="l"/>
                      <a:r>
                        <a:rPr sz="1200" b="0" i="0" u="none">
                          <a:solidFill>
                            <a:srgbClr val="000000"/>
                          </a:solidFill>
                          <a:latin typeface="Times New Roman"/>
                        </a:rPr>
                        <a:t>An online data-driven fault diagnosis and thermal runaway early warning for electric vehicle batteries</a:t>
                      </a:r>
                    </a:p>
                  </a:txBody>
                  <a:tcPr anchor="ctr" marL="64008" marR="64008" marT="27432" marB="27432">
                    <a:solidFill>
                      <a:srgbClr val="D0D8E8"/>
                    </a:solidFill>
                  </a:tcPr>
                </a:tc>
                <a:tc>
                  <a:txBody>
                    <a:bodyPr/>
                    <a:lstStyle/>
                    <a:p>
                      <a:pPr algn="l"/>
                      <a:r>
                        <a:rPr sz="1200" b="0" i="0" u="none">
                          <a:solidFill>
                            <a:srgbClr val="000000"/>
                          </a:solidFill>
                          <a:latin typeface="Times New Roman"/>
                        </a:rPr>
                        <a:t>Found the cell heading for thermal runaway before it happened, using voltage and temperature data from real vehicles.</a:t>
                      </a:r>
                    </a:p>
                  </a:txBody>
                  <a:tcPr anchor="ctr" marL="64008" marR="64008" marT="27432" marB="27432">
                    <a:solidFill>
                      <a:srgbClr val="D0D8E8"/>
                    </a:solidFill>
                  </a:tcPr>
                </a:tc>
                <a:tc>
                  <a:txBody>
                    <a:bodyPr/>
                    <a:lstStyle/>
                    <a:p>
                      <a:pPr algn="l"/>
                      <a:r>
                        <a:rPr sz="1200" b="0" i="0" u="none">
                          <a:solidFill>
                            <a:srgbClr val="000000"/>
                          </a:solidFill>
                          <a:latin typeface="Times New Roman"/>
                        </a:rPr>
                        <a:t>Compares many cells statistically, which suits large EV packs rather than a four-cell pack.</a:t>
                      </a:r>
                    </a:p>
                  </a:txBody>
                  <a:tcPr anchor="ctr" marL="64008" marR="64008" marT="27432" marB="27432">
                    <a:solidFill>
                      <a:srgbClr val="D0D8E8"/>
                    </a:solidFill>
                  </a:tcPr>
                </a:tc>
              </a:tr>
              <a:tr h="786384">
                <a:tc>
                  <a:txBody>
                    <a:bodyPr/>
                    <a:lstStyle/>
                    <a:p>
                      <a:pPr algn="ctr"/>
                      <a:r>
                        <a:rPr sz="1200" b="1" i="0" u="none">
                          <a:solidFill>
                            <a:srgbClr val="000000"/>
                          </a:solidFill>
                          <a:latin typeface="Times New Roman"/>
                        </a:rPr>
                        <a:t>[7]</a:t>
                      </a:r>
                    </a:p>
                  </a:txBody>
                  <a:tcPr anchor="ctr" marL="64008" marR="64008" marT="27432" marB="27432">
                    <a:solidFill>
                      <a:srgbClr val="D0D8E8"/>
                    </a:solidFill>
                  </a:tcPr>
                </a:tc>
                <a:tc>
                  <a:txBody>
                    <a:bodyPr/>
                    <a:lstStyle/>
                    <a:p>
                      <a:pPr algn="l"/>
                      <a:r>
                        <a:rPr sz="1200" b="0" i="0" u="none">
                          <a:solidFill>
                            <a:srgbClr val="000000"/>
                          </a:solidFill>
                          <a:latin typeface="Times New Roman"/>
                        </a:rPr>
                        <a:t>A neural network based method for thermal fault detection in lithium-ion batteries</a:t>
                      </a:r>
                    </a:p>
                  </a:txBody>
                  <a:tcPr anchor="ctr" marL="64008" marR="64008" marT="27432" marB="27432">
                    <a:solidFill>
                      <a:srgbClr val="D0D8E8"/>
                    </a:solidFill>
                  </a:tcPr>
                </a:tc>
                <a:tc>
                  <a:txBody>
                    <a:bodyPr/>
                    <a:lstStyle/>
                    <a:p>
                      <a:pPr algn="l"/>
                      <a:r>
                        <a:rPr sz="1200" b="0" i="0" u="none">
                          <a:solidFill>
                            <a:srgbClr val="000000"/>
                          </a:solidFill>
                          <a:latin typeface="Times New Roman"/>
                        </a:rPr>
                        <a:t>A neural network predicts the cell surface temperature. A large gap between prediction and reading flags a fault.</a:t>
                      </a:r>
                    </a:p>
                  </a:txBody>
                  <a:tcPr anchor="ctr" marL="64008" marR="64008" marT="27432" marB="27432">
                    <a:solidFill>
                      <a:srgbClr val="D0D8E8"/>
                    </a:solidFill>
                  </a:tcPr>
                </a:tc>
                <a:tc>
                  <a:txBody>
                    <a:bodyPr/>
                    <a:lstStyle/>
                    <a:p>
                      <a:pPr algn="l"/>
                      <a:r>
                        <a:rPr sz="1200" b="0" i="0" u="none">
                          <a:solidFill>
                            <a:srgbClr val="000000"/>
                          </a:solidFill>
                          <a:latin typeface="Times New Roman"/>
                        </a:rPr>
                        <a:t>Needs neural network training and retraining, which is heavy for a low-cost microcontroller.</a:t>
                      </a:r>
                    </a:p>
                  </a:txBody>
                  <a:tcPr anchor="ctr" marL="64008" marR="64008" marT="27432" marB="27432">
                    <a:solidFill>
                      <a:srgbClr val="D0D8E8"/>
                    </a:solidFill>
                  </a:tcPr>
                </a:tc>
              </a:tr>
              <a:tr h="786384">
                <a:tc>
                  <a:txBody>
                    <a:bodyPr/>
                    <a:lstStyle/>
                    <a:p>
                      <a:pPr algn="ctr"/>
                      <a:r>
                        <a:rPr sz="1200" b="1" i="0" u="none">
                          <a:solidFill>
                            <a:srgbClr val="000000"/>
                          </a:solidFill>
                          <a:latin typeface="Times New Roman"/>
                        </a:rPr>
                        <a:t>[8]</a:t>
                      </a:r>
                    </a:p>
                  </a:txBody>
                  <a:tcPr anchor="ctr" marL="64008" marR="64008" marT="27432" marB="27432">
                    <a:solidFill>
                      <a:srgbClr val="D0D8E8"/>
                    </a:solidFill>
                  </a:tcPr>
                </a:tc>
                <a:tc>
                  <a:txBody>
                    <a:bodyPr/>
                    <a:lstStyle/>
                    <a:p>
                      <a:pPr algn="l"/>
                      <a:r>
                        <a:rPr sz="1200" b="0" i="0" u="none">
                          <a:solidFill>
                            <a:srgbClr val="000000"/>
                          </a:solidFill>
                          <a:latin typeface="Times New Roman"/>
                        </a:rPr>
                        <a:t>A combined data-driven and model-based algorithm for accurate battery thermal runaway warning</a:t>
                      </a:r>
                    </a:p>
                  </a:txBody>
                  <a:tcPr anchor="ctr" marL="64008" marR="64008" marT="27432" marB="27432">
                    <a:solidFill>
                      <a:srgbClr val="D0D8E8"/>
                    </a:solidFill>
                  </a:tcPr>
                </a:tc>
                <a:tc>
                  <a:txBody>
                    <a:bodyPr/>
                    <a:lstStyle/>
                    <a:p>
                      <a:pPr algn="l"/>
                      <a:r>
                        <a:rPr sz="1200" b="0" i="0" u="none">
                          <a:solidFill>
                            <a:srgbClr val="000000"/>
                          </a:solidFill>
                          <a:latin typeface="Times New Roman"/>
                        </a:rPr>
                        <a:t>Combined K-Means clustering with the Bernardi heat equation and warned 25 minutes before thermal runaway.</a:t>
                      </a:r>
                    </a:p>
                  </a:txBody>
                  <a:tcPr anchor="ctr" marL="64008" marR="64008" marT="27432" marB="27432">
                    <a:solidFill>
                      <a:srgbClr val="D0D8E8"/>
                    </a:solidFill>
                  </a:tcPr>
                </a:tc>
                <a:tc>
                  <a:txBody>
                    <a:bodyPr/>
                    <a:lstStyle/>
                    <a:p>
                      <a:pPr algn="l"/>
                      <a:r>
                        <a:rPr sz="1200" b="0" i="0" u="none">
                          <a:solidFill>
                            <a:srgbClr val="000000"/>
                          </a:solidFill>
                          <a:latin typeface="Times New Roman"/>
                        </a:rPr>
                        <a:t>Needs training data and fitted parameters. Its 1 °C/s limit confirms runaway; it is not an early warning.</a:t>
                      </a:r>
                    </a:p>
                  </a:txBody>
                  <a:tcPr anchor="ctr" marL="64008" marR="64008" marT="27432" marB="27432">
                    <a:solidFill>
                      <a:srgbClr val="D0D8E8"/>
                    </a:solidFill>
                  </a:tcPr>
                </a:tc>
              </a:tr>
              <a:tr h="786384">
                <a:tc>
                  <a:txBody>
                    <a:bodyPr/>
                    <a:lstStyle/>
                    <a:p>
                      <a:pPr algn="ctr"/>
                      <a:r>
                        <a:rPr sz="1200" b="1" i="0" u="none">
                          <a:solidFill>
                            <a:srgbClr val="000000"/>
                          </a:solidFill>
                          <a:latin typeface="Times New Roman"/>
                        </a:rPr>
                        <a:t>[9]</a:t>
                      </a:r>
                    </a:p>
                  </a:txBody>
                  <a:tcPr anchor="ctr" marL="64008" marR="64008" marT="27432" marB="27432">
                    <a:solidFill>
                      <a:srgbClr val="D0D8E8"/>
                    </a:solidFill>
                  </a:tcPr>
                </a:tc>
                <a:tc>
                  <a:txBody>
                    <a:bodyPr/>
                    <a:lstStyle/>
                    <a:p>
                      <a:pPr algn="l"/>
                      <a:r>
                        <a:rPr sz="1200" b="0" i="0" u="none">
                          <a:solidFill>
                            <a:srgbClr val="000000"/>
                          </a:solidFill>
                          <a:latin typeface="Times New Roman"/>
                        </a:rPr>
                        <a:t>Online parameterization of lumped thermal dynamics in cylindrical lithium ion batteries for core temperature estimation and health monitoring</a:t>
                      </a:r>
                    </a:p>
                  </a:txBody>
                  <a:tcPr anchor="ctr" marL="64008" marR="64008" marT="27432" marB="27432">
                    <a:solidFill>
                      <a:srgbClr val="D0D8E8"/>
                    </a:solidFill>
                  </a:tcPr>
                </a:tc>
                <a:tc>
                  <a:txBody>
                    <a:bodyPr/>
                    <a:lstStyle/>
                    <a:p>
                      <a:pPr algn="l"/>
                      <a:r>
                        <a:rPr sz="1200" b="0" i="0" u="none">
                          <a:solidFill>
                            <a:srgbClr val="000000"/>
                          </a:solidFill>
                          <a:latin typeface="Times New Roman"/>
                        </a:rPr>
                        <a:t>Showed that only the surface temperature can be measured, while the core can be hotter, and estimated the core.</a:t>
                      </a:r>
                    </a:p>
                  </a:txBody>
                  <a:tcPr anchor="ctr" marL="64008" marR="64008" marT="27432" marB="27432">
                    <a:solidFill>
                      <a:srgbClr val="D0D8E8"/>
                    </a:solidFill>
                  </a:tcPr>
                </a:tc>
                <a:tc>
                  <a:txBody>
                    <a:bodyPr/>
                    <a:lstStyle/>
                    <a:p>
                      <a:pPr algn="l"/>
                      <a:r>
                        <a:rPr sz="1200" b="0" i="0" u="none">
                          <a:solidFill>
                            <a:srgbClr val="000000"/>
                          </a:solidFill>
                          <a:latin typeface="Times New Roman"/>
                        </a:rPr>
                        <a:t>Needs online parameter identification, and was tested on one 26650 LFP cell, not an 18650 pack.</a:t>
                      </a:r>
                    </a:p>
                  </a:txBody>
                  <a:tcPr anchor="ctr" marL="64008" marR="64008" marT="27432" marB="27432">
                    <a:solidFill>
                      <a:srgbClr val="D0D8E8"/>
                    </a:solidFill>
                  </a:tcPr>
                </a:tc>
              </a:tr>
              <a:tr h="786384">
                <a:tc>
                  <a:txBody>
                    <a:bodyPr/>
                    <a:lstStyle/>
                    <a:p>
                      <a:pPr algn="ctr"/>
                      <a:r>
                        <a:rPr sz="1200" b="1" i="0" u="none">
                          <a:solidFill>
                            <a:srgbClr val="000000"/>
                          </a:solidFill>
                          <a:latin typeface="Times New Roman"/>
                        </a:rPr>
                        <a:t>[10]</a:t>
                      </a:r>
                    </a:p>
                  </a:txBody>
                  <a:tcPr anchor="ctr" marL="64008" marR="64008" marT="27432" marB="27432">
                    <a:solidFill>
                      <a:srgbClr val="D0D8E8"/>
                    </a:solidFill>
                  </a:tcPr>
                </a:tc>
                <a:tc>
                  <a:txBody>
                    <a:bodyPr/>
                    <a:lstStyle/>
                    <a:p>
                      <a:pPr algn="l"/>
                      <a:r>
                        <a:rPr sz="1200" b="0" i="0" u="none">
                          <a:solidFill>
                            <a:srgbClr val="000000"/>
                          </a:solidFill>
                          <a:latin typeface="Times New Roman"/>
                        </a:rPr>
                        <a:t>Cloud-based battery condition monitoring platform for large-scale lithium-ion battery energy storage systems using internet-of-things (IoT)</a:t>
                      </a:r>
                    </a:p>
                  </a:txBody>
                  <a:tcPr anchor="ctr" marL="64008" marR="64008" marT="27432" marB="27432">
                    <a:solidFill>
                      <a:srgbClr val="D0D8E8"/>
                    </a:solidFill>
                  </a:tcPr>
                </a:tc>
                <a:tc>
                  <a:txBody>
                    <a:bodyPr/>
                    <a:lstStyle/>
                    <a:p>
                      <a:pPr algn="l"/>
                      <a:r>
                        <a:rPr sz="1200" b="0" i="0" u="none">
                          <a:solidFill>
                            <a:srgbClr val="000000"/>
                          </a:solidFill>
                          <a:latin typeface="Times New Roman"/>
                        </a:rPr>
                        <a:t>Sent battery module data over IoT links to Google Cloud, where the cell states were worked out.</a:t>
                      </a:r>
                    </a:p>
                  </a:txBody>
                  <a:tcPr anchor="ctr" marL="64008" marR="64008" marT="27432" marB="27432">
                    <a:solidFill>
                      <a:srgbClr val="D0D8E8"/>
                    </a:solidFill>
                  </a:tcPr>
                </a:tc>
                <a:tc>
                  <a:txBody>
                    <a:bodyPr/>
                    <a:lstStyle/>
                    <a:p>
                      <a:pPr algn="l"/>
                      <a:r>
                        <a:rPr sz="1200" b="0" i="0" u="none">
                          <a:solidFill>
                            <a:srgbClr val="000000"/>
                          </a:solidFill>
                          <a:latin typeface="Times New Roman"/>
                        </a:rPr>
                        <a:t>Depends on the cloud and a network link. Protection has to keep working when Wi-Fi is lost.</a:t>
                      </a:r>
                    </a:p>
                  </a:txBody>
                  <a:tcPr anchor="ctr" marL="64008" marR="64008" marT="27432" marB="27432">
                    <a:solidFill>
                      <a:srgbClr val="D0D8E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7</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Problem Analysis</a:t>
            </a:r>
          </a:p>
        </p:txBody>
      </p:sp>
      <p:sp>
        <p:nvSpPr>
          <p:cNvPr id="8" name="TextBox 7"/>
          <p:cNvSpPr txBox="1"/>
          <p:nvPr/>
        </p:nvSpPr>
        <p:spPr>
          <a:xfrm>
            <a:off x="566928" y="1170431"/>
            <a:ext cx="8074152" cy="2057400"/>
          </a:xfrm>
          <a:prstGeom prst="rect">
            <a:avLst/>
          </a:prstGeom>
          <a:noFill/>
        </p:spPr>
        <p:txBody>
          <a:bodyPr wrap="square" lIns="0" rIns="0" tIns="0" bIns="0">
            <a:noAutofit/>
          </a:bodyPr>
          <a:lstStyle/>
          <a:p>
            <a:pPr marL="283464" indent="-283464" algn="just">
              <a:lnSpc>
                <a:spcPct val="110000"/>
              </a:lnSpc>
              <a:spcAft>
                <a:spcPts val="1000"/>
              </a:spcAft>
              <a:buFont typeface="Arial"/>
              <a:buChar char="•"/>
            </a:pPr>
            <a:r>
              <a:rPr sz="1600" b="0" i="0" u="none">
                <a:solidFill>
                  <a:srgbClr val="000000"/>
                </a:solidFill>
                <a:latin typeface="Times New Roman"/>
              </a:rPr>
              <a:t>Existing studies explain how thermal runaway builds up through heat-producing reactions [1], and show the cell core can be hotter than its surface [9].</a:t>
            </a:r>
          </a:p>
          <a:p>
            <a:pPr marL="283464" indent="-283464" algn="just">
              <a:lnSpc>
                <a:spcPct val="110000"/>
              </a:lnSpc>
              <a:spcAft>
                <a:spcPts val="1000"/>
              </a:spcAft>
              <a:buFont typeface="Arial"/>
              <a:buChar char="•"/>
            </a:pPr>
            <a:r>
              <a:rPr sz="1600" b="0" i="0" u="none">
                <a:solidFill>
                  <a:srgbClr val="000000"/>
                </a:solidFill>
                <a:latin typeface="Times New Roman"/>
              </a:rPr>
              <a:t>Early-warning methods mostly rely on detailed models, large data sets, neural networks or the cloud [5]–[8], [10].</a:t>
            </a:r>
          </a:p>
          <a:p>
            <a:pPr marL="283464" indent="-283464" algn="just">
              <a:lnSpc>
                <a:spcPct val="110000"/>
              </a:lnSpc>
              <a:spcAft>
                <a:spcPts val="1000"/>
              </a:spcAft>
              <a:buFont typeface="Arial"/>
              <a:buChar char="•"/>
            </a:pPr>
            <a:r>
              <a:rPr sz="1600" b="0" i="0" u="none">
                <a:solidFill>
                  <a:srgbClr val="000000"/>
                </a:solidFill>
                <a:latin typeface="Times New Roman"/>
              </a:rPr>
              <a:t>The protection board used here acts on voltage and current only. It does not watch temperature at all.</a:t>
            </a:r>
          </a:p>
        </p:txBody>
      </p:sp>
      <p:sp>
        <p:nvSpPr>
          <p:cNvPr id="9" name="TextBox 8"/>
          <p:cNvSpPr txBox="1"/>
          <p:nvPr/>
        </p:nvSpPr>
        <p:spPr>
          <a:xfrm>
            <a:off x="457200" y="3273551"/>
            <a:ext cx="8183879" cy="640080"/>
          </a:xfrm>
          <a:prstGeom prst="rect">
            <a:avLst/>
          </a:prstGeom>
          <a:noFill/>
        </p:spPr>
        <p:txBody>
          <a:bodyPr wrap="square" lIns="0" rIns="0" tIns="0" bIns="0">
            <a:noAutofit/>
          </a:bodyPr>
          <a:lstStyle/>
          <a:p>
            <a:r>
              <a:rPr sz="3200" b="0" i="0" u="none">
                <a:solidFill>
                  <a:srgbClr val="000000"/>
                </a:solidFill>
                <a:latin typeface="Times New Roman"/>
              </a:rPr>
              <a:t>Research Gap</a:t>
            </a:r>
          </a:p>
        </p:txBody>
      </p:sp>
      <p:sp>
        <p:nvSpPr>
          <p:cNvPr id="10" name="TextBox 9"/>
          <p:cNvSpPr txBox="1"/>
          <p:nvPr/>
        </p:nvSpPr>
        <p:spPr>
          <a:xfrm>
            <a:off x="566928" y="3968496"/>
            <a:ext cx="8074152" cy="2249424"/>
          </a:xfrm>
          <a:prstGeom prst="rect">
            <a:avLst/>
          </a:prstGeom>
          <a:noFill/>
        </p:spPr>
        <p:txBody>
          <a:bodyPr wrap="square" lIns="0" rIns="0" tIns="0" bIns="0">
            <a:noAutofit/>
          </a:bodyPr>
          <a:lstStyle/>
          <a:p>
            <a:pPr marL="283464" indent="-283464" algn="just">
              <a:lnSpc>
                <a:spcPct val="110000"/>
              </a:lnSpc>
              <a:spcAft>
                <a:spcPts val="1000"/>
              </a:spcAft>
              <a:buFont typeface="Arial"/>
              <a:buChar char="•"/>
            </a:pPr>
            <a:r>
              <a:rPr sz="1600" b="0" i="0" u="none">
                <a:solidFill>
                  <a:srgbClr val="000000"/>
                </a:solidFill>
                <a:latin typeface="Times New Roman"/>
              </a:rPr>
              <a:t>A simple method is needed that spots an abnormal temperature rise early, using only cell-surface sensors and a low-cost microcontroller.</a:t>
            </a:r>
          </a:p>
          <a:p>
            <a:pPr marL="283464" indent="-283464" algn="just">
              <a:lnSpc>
                <a:spcPct val="110000"/>
              </a:lnSpc>
              <a:spcAft>
                <a:spcPts val="1000"/>
              </a:spcAft>
              <a:buFont typeface="Arial"/>
              <a:buChar char="•"/>
            </a:pPr>
            <a:r>
              <a:rPr sz="1600" b="0" i="0" u="none">
                <a:solidFill>
                  <a:srgbClr val="000000"/>
                </a:solidFill>
                <a:latin typeface="Times New Roman"/>
              </a:rPr>
              <a:t>The early warning must be backed by protection that still works if the controller, a sensor or the network fails [4].</a:t>
            </a:r>
          </a:p>
          <a:p>
            <a:pPr marL="283464" indent="-283464" algn="just">
              <a:lnSpc>
                <a:spcPct val="110000"/>
              </a:lnSpc>
              <a:spcAft>
                <a:spcPts val="1000"/>
              </a:spcAft>
              <a:buFont typeface="Arial"/>
              <a:buChar char="•"/>
            </a:pPr>
            <a:r>
              <a:rPr sz="1600" b="0" i="0" u="none">
                <a:solidFill>
                  <a:srgbClr val="000000"/>
                </a:solidFill>
                <a:latin typeface="Times New Roman"/>
              </a:rPr>
              <a:t>Charging and discharging should be cut off separately, so that only the unsafe direction is stopped.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8</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Objectives</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283464" indent="-283464" algn="just">
              <a:lnSpc>
                <a:spcPct val="110000"/>
              </a:lnSpc>
              <a:spcAft>
                <a:spcPts val="2000"/>
              </a:spcAft>
              <a:buFont typeface="Arial"/>
              <a:buChar char="•"/>
            </a:pPr>
            <a:r>
              <a:rPr sz="1700" b="0" i="0" u="none">
                <a:solidFill>
                  <a:srgbClr val="000000"/>
                </a:solidFill>
                <a:latin typeface="Times New Roman"/>
              </a:rPr>
              <a:t>To study thermal runaway in lithium-ion cells and the methods used to detect it early.</a:t>
            </a:r>
          </a:p>
          <a:p>
            <a:pPr marL="283464" indent="-283464" algn="just">
              <a:lnSpc>
                <a:spcPct val="110000"/>
              </a:lnSpc>
              <a:spcAft>
                <a:spcPts val="2000"/>
              </a:spcAft>
              <a:buFont typeface="Arial"/>
              <a:buChar char="•"/>
            </a:pPr>
            <a:r>
              <a:rPr sz="1700" b="0" i="0" u="none">
                <a:solidFill>
                  <a:srgbClr val="000000"/>
                </a:solidFill>
                <a:latin typeface="Times New Roman"/>
              </a:rPr>
              <a:t>To design a two-layer protection system: an independent hardware BMS, and an ESP32 supervisor that can disconnect charging and discharging separately.</a:t>
            </a:r>
          </a:p>
          <a:p>
            <a:pPr marL="283464" indent="-283464" algn="just">
              <a:lnSpc>
                <a:spcPct val="110000"/>
              </a:lnSpc>
              <a:spcAft>
                <a:spcPts val="2000"/>
              </a:spcAft>
              <a:buFont typeface="Arial"/>
              <a:buChar char="•"/>
            </a:pPr>
            <a:r>
              <a:rPr sz="1700" b="0" i="0" u="none">
                <a:solidFill>
                  <a:srgbClr val="000000"/>
                </a:solidFill>
                <a:latin typeface="Times New Roman"/>
              </a:rPr>
              <a:t>To measure every cell voltage, the pack current, four cell temperatures and the air temperature accurately, using an ADS1115, an INA226 and NTC thermistors.</a:t>
            </a:r>
          </a:p>
          <a:p>
            <a:pPr marL="283464" indent="-283464" algn="just">
              <a:lnSpc>
                <a:spcPct val="110000"/>
              </a:lnSpc>
              <a:spcAft>
                <a:spcPts val="2000"/>
              </a:spcAft>
              <a:buFont typeface="Arial"/>
              <a:buChar char="•"/>
            </a:pPr>
            <a:r>
              <a:rPr sz="1700" b="0" i="0" u="none">
                <a:solidFill>
                  <a:srgbClr val="000000"/>
                </a:solidFill>
                <a:latin typeface="Times New Roman"/>
              </a:rPr>
              <a:t>To predict each cell's heating with a thermal model, and act on heating the current cannot explain before any fixed temperature limit is reached, with every trip latched.</a:t>
            </a:r>
          </a:p>
          <a:p>
            <a:pPr marL="283464" indent="-283464" algn="just">
              <a:lnSpc>
                <a:spcPct val="110000"/>
              </a:lnSpc>
              <a:spcAft>
                <a:spcPts val="2000"/>
              </a:spcAft>
              <a:buFont typeface="Arial"/>
              <a:buChar char="•"/>
            </a:pPr>
            <a:r>
              <a:rPr sz="1700" b="0" i="0" u="none">
                <a:solidFill>
                  <a:srgbClr val="000000"/>
                </a:solidFill>
                <a:latin typeface="Times New Roman"/>
              </a:rPr>
              <a:t>To show live readings and faults on a Wi-Fi dashboard, while every safety function keeps working without Wi-Fi.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9</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Methodology</a:t>
            </a:r>
          </a:p>
        </p:txBody>
      </p:sp>
      <p:pic>
        <p:nvPicPr>
          <p:cNvPr id="8" name="Picture 7" descr="r1_methodology.png"/>
          <p:cNvPicPr>
            <a:picLocks noChangeAspect="1"/>
          </p:cNvPicPr>
          <p:nvPr/>
        </p:nvPicPr>
        <p:blipFill>
          <a:blip r:embed="rId2"/>
          <a:stretch>
            <a:fillRect/>
          </a:stretch>
        </p:blipFill>
        <p:spPr>
          <a:xfrm>
            <a:off x="365760" y="1806739"/>
            <a:ext cx="8412480" cy="382973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10</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Block Diagram</a:t>
            </a:r>
          </a:p>
        </p:txBody>
      </p:sp>
      <p:pic>
        <p:nvPicPr>
          <p:cNvPr id="8" name="Picture 7" descr="r1_block_diagram.png"/>
          <p:cNvPicPr>
            <a:picLocks noChangeAspect="1"/>
          </p:cNvPicPr>
          <p:nvPr/>
        </p:nvPicPr>
        <p:blipFill>
          <a:blip r:embed="rId2"/>
          <a:stretch>
            <a:fillRect/>
          </a:stretch>
        </p:blipFill>
        <p:spPr>
          <a:xfrm>
            <a:off x="365760" y="1681644"/>
            <a:ext cx="8412480" cy="407992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11</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Schematic Diagram</a:t>
            </a:r>
          </a:p>
        </p:txBody>
      </p:sp>
      <p:sp>
        <p:nvSpPr>
          <p:cNvPr id="8" name="TextBox 7"/>
          <p:cNvSpPr txBox="1"/>
          <p:nvPr/>
        </p:nvSpPr>
        <p:spPr>
          <a:xfrm>
            <a:off x="566928" y="1207008"/>
            <a:ext cx="8074152" cy="914400"/>
          </a:xfrm>
          <a:prstGeom prst="rect">
            <a:avLst/>
          </a:prstGeom>
          <a:noFill/>
        </p:spPr>
        <p:txBody>
          <a:bodyPr wrap="square" lIns="0" rIns="0" tIns="0" bIns="0">
            <a:noAutofit/>
          </a:bodyPr>
          <a:lstStyle/>
          <a:p>
            <a:pPr marL="283464" indent="-283464" algn="just">
              <a:spcAft>
                <a:spcPts val="600"/>
              </a:spcAft>
              <a:buFont typeface="Arial"/>
              <a:buChar char="•"/>
            </a:pPr>
            <a:r>
              <a:rPr sz="1500" b="0" i="0" u="none">
                <a:solidFill>
                  <a:srgbClr val="000000"/>
                </a:solidFill>
                <a:latin typeface="Times New Roman"/>
              </a:rPr>
              <a:t>The hardware BMS protects the cells on its own, even if the ESP32 or Wi-Fi fails.</a:t>
            </a:r>
          </a:p>
          <a:p>
            <a:pPr marL="283464" indent="-283464" algn="just">
              <a:spcAft>
                <a:spcPts val="600"/>
              </a:spcAft>
              <a:buFont typeface="Arial"/>
              <a:buChar char="•"/>
            </a:pPr>
            <a:r>
              <a:rPr sz="1500" b="0" i="0" u="none">
                <a:solidFill>
                  <a:srgbClr val="000000"/>
                </a:solidFill>
                <a:latin typeface="Times New Roman"/>
              </a:rPr>
              <a:t>Each relay is normally open and held off by a pull-up, so a reset disconnects both branches.</a:t>
            </a:r>
          </a:p>
        </p:txBody>
      </p:sp>
      <p:pic>
        <p:nvPicPr>
          <p:cNvPr id="9" name="Picture 8" descr="r1_schematic.png"/>
          <p:cNvPicPr>
            <a:picLocks noChangeAspect="1"/>
          </p:cNvPicPr>
          <p:nvPr/>
        </p:nvPicPr>
        <p:blipFill>
          <a:blip r:embed="rId2"/>
          <a:stretch>
            <a:fillRect/>
          </a:stretch>
        </p:blipFill>
        <p:spPr>
          <a:xfrm>
            <a:off x="365760" y="2946306"/>
            <a:ext cx="8412480" cy="2519867"/>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12</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Hardware and Software Requirements</a:t>
            </a:r>
          </a:p>
        </p:txBody>
      </p:sp>
      <p:graphicFrame>
        <p:nvGraphicFramePr>
          <p:cNvPr id="8" name="Table 7"/>
          <p:cNvGraphicFramePr>
            <a:graphicFrameLocks noGrp="1"/>
          </p:cNvGraphicFramePr>
          <p:nvPr/>
        </p:nvGraphicFramePr>
        <p:xfrm>
          <a:off x="320039" y="1261872"/>
          <a:ext cx="8503920" cy="4636008"/>
        </p:xfrm>
        <a:graphic>
          <a:graphicData uri="http://schemas.openxmlformats.org/drawingml/2006/table">
            <a:tbl>
              <a:tblPr firstRow="1">
                <a:tableStyleId>{5C22544A-7EE6-4342-B048-85BDC9FD1C3A}</a:tableStyleId>
              </a:tblPr>
              <a:tblGrid>
                <a:gridCol w="1188720"/>
                <a:gridCol w="3017520"/>
                <a:gridCol w="4297680"/>
              </a:tblGrid>
              <a:tr h="356616">
                <a:tc>
                  <a:txBody>
                    <a:bodyPr/>
                    <a:lstStyle/>
                    <a:p>
                      <a:pPr algn="ctr"/>
                      <a:r>
                        <a:rPr sz="1400" b="1" i="0" u="none">
                          <a:solidFill>
                            <a:srgbClr val="FFFFFF"/>
                          </a:solidFill>
                          <a:latin typeface="Times New Roman"/>
                        </a:rPr>
                        <a:t>Type</a:t>
                      </a:r>
                    </a:p>
                  </a:txBody>
                  <a:tcPr anchor="ctr" marL="64008" marR="64008">
                    <a:solidFill>
                      <a:srgbClr val="4F81BD"/>
                    </a:solidFill>
                  </a:tcPr>
                </a:tc>
                <a:tc>
                  <a:txBody>
                    <a:bodyPr/>
                    <a:lstStyle/>
                    <a:p>
                      <a:pPr algn="ctr"/>
                      <a:r>
                        <a:rPr sz="1400" b="1" i="0" u="none">
                          <a:solidFill>
                            <a:srgbClr val="FFFFFF"/>
                          </a:solidFill>
                          <a:latin typeface="Times New Roman"/>
                        </a:rPr>
                        <a:t>Item</a:t>
                      </a:r>
                    </a:p>
                  </a:txBody>
                  <a:tcPr anchor="ctr" marL="64008" marR="64008">
                    <a:solidFill>
                      <a:srgbClr val="4F81BD"/>
                    </a:solidFill>
                  </a:tcPr>
                </a:tc>
                <a:tc>
                  <a:txBody>
                    <a:bodyPr/>
                    <a:lstStyle/>
                    <a:p>
                      <a:pPr algn="ctr"/>
                      <a:r>
                        <a:rPr sz="1400" b="1" i="0" u="none">
                          <a:solidFill>
                            <a:srgbClr val="FFFFFF"/>
                          </a:solidFill>
                          <a:latin typeface="Times New Roman"/>
                        </a:rPr>
                        <a:t>Used for</a:t>
                      </a:r>
                    </a:p>
                  </a:txBody>
                  <a:tcPr anchor="ctr" marL="64008" marR="64008">
                    <a:solidFill>
                      <a:srgbClr val="4F81BD"/>
                    </a:solidFill>
                  </a:tcPr>
                </a:tc>
              </a:tr>
              <a:tr h="356616">
                <a:tc>
                  <a:txBody>
                    <a:bodyPr/>
                    <a:lstStyle/>
                    <a:p>
                      <a:pPr algn="ctr"/>
                      <a:r>
                        <a:rPr sz="1400" b="0" i="0" u="none">
                          <a:solidFill>
                            <a:srgbClr val="000000"/>
                          </a:solidFill>
                          <a:latin typeface="Times New Roman"/>
                        </a:rPr>
                        <a:t>Hardware</a:t>
                      </a:r>
                    </a:p>
                  </a:txBody>
                  <a:tcPr anchor="ctr" marL="64008" marR="64008" marT="27432" marB="27432">
                    <a:solidFill>
                      <a:srgbClr val="D0D8E8"/>
                    </a:solidFill>
                  </a:tcPr>
                </a:tc>
                <a:tc>
                  <a:txBody>
                    <a:bodyPr/>
                    <a:lstStyle/>
                    <a:p>
                      <a:pPr algn="l"/>
                      <a:r>
                        <a:rPr sz="1400" b="0" i="0" u="none">
                          <a:solidFill>
                            <a:srgbClr val="000000"/>
                          </a:solidFill>
                          <a:latin typeface="Times New Roman"/>
                        </a:rPr>
                        <a:t>ESP32-WROOM-32 DevKit</a:t>
                      </a:r>
                    </a:p>
                  </a:txBody>
                  <a:tcPr anchor="ctr" marL="64008" marR="64008" marT="27432" marB="27432">
                    <a:solidFill>
                      <a:srgbClr val="D0D8E8"/>
                    </a:solidFill>
                  </a:tcPr>
                </a:tc>
                <a:tc>
                  <a:txBody>
                    <a:bodyPr/>
                    <a:lstStyle/>
                    <a:p>
                      <a:pPr algn="l"/>
                      <a:r>
                        <a:rPr sz="1400" b="0" i="0" u="none">
                          <a:solidFill>
                            <a:srgbClr val="000000"/>
                          </a:solidFill>
                          <a:latin typeface="Times New Roman"/>
                        </a:rPr>
                        <a:t>Sensing, thermal prediction, relays, Wi-Fi</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Hardware</a:t>
                      </a:r>
                    </a:p>
                  </a:txBody>
                  <a:tcPr anchor="ctr" marL="64008" marR="64008" marT="27432" marB="27432">
                    <a:solidFill>
                      <a:srgbClr val="D0D8E8"/>
                    </a:solidFill>
                  </a:tcPr>
                </a:tc>
                <a:tc>
                  <a:txBody>
                    <a:bodyPr/>
                    <a:lstStyle/>
                    <a:p>
                      <a:pPr algn="l"/>
                      <a:r>
                        <a:rPr sz="1400" b="0" i="0" u="none">
                          <a:solidFill>
                            <a:srgbClr val="000000"/>
                          </a:solidFill>
                          <a:latin typeface="Times New Roman"/>
                        </a:rPr>
                        <a:t>4 × NCR18650GA 3300 mAh</a:t>
                      </a:r>
                    </a:p>
                  </a:txBody>
                  <a:tcPr anchor="ctr" marL="64008" marR="64008" marT="27432" marB="27432">
                    <a:solidFill>
                      <a:srgbClr val="D0D8E8"/>
                    </a:solidFill>
                  </a:tcPr>
                </a:tc>
                <a:tc>
                  <a:txBody>
                    <a:bodyPr/>
                    <a:lstStyle/>
                    <a:p>
                      <a:pPr algn="l"/>
                      <a:r>
                        <a:rPr sz="1400" b="0" i="0" u="none">
                          <a:solidFill>
                            <a:srgbClr val="000000"/>
                          </a:solidFill>
                          <a:latin typeface="Times New Roman"/>
                        </a:rPr>
                        <a:t>The 4S1P pack, with a 16.8 V 1.5 A charger</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Hardware</a:t>
                      </a:r>
                    </a:p>
                  </a:txBody>
                  <a:tcPr anchor="ctr" marL="64008" marR="64008" marT="27432" marB="27432">
                    <a:solidFill>
                      <a:srgbClr val="D0D8E8"/>
                    </a:solidFill>
                  </a:tcPr>
                </a:tc>
                <a:tc>
                  <a:txBody>
                    <a:bodyPr/>
                    <a:lstStyle/>
                    <a:p>
                      <a:pPr algn="l"/>
                      <a:r>
                        <a:rPr sz="1400" b="0" i="0" u="none">
                          <a:solidFill>
                            <a:srgbClr val="000000"/>
                          </a:solidFill>
                          <a:latin typeface="Times New Roman"/>
                        </a:rPr>
                        <a:t>4S 20 A hardware BMS</a:t>
                      </a:r>
                    </a:p>
                  </a:txBody>
                  <a:tcPr anchor="ctr" marL="64008" marR="64008" marT="27432" marB="27432">
                    <a:solidFill>
                      <a:srgbClr val="D0D8E8"/>
                    </a:solidFill>
                  </a:tcPr>
                </a:tc>
                <a:tc>
                  <a:txBody>
                    <a:bodyPr/>
                    <a:lstStyle/>
                    <a:p>
                      <a:pPr algn="l"/>
                      <a:r>
                        <a:rPr sz="1400" b="0" i="0" u="none">
                          <a:solidFill>
                            <a:srgbClr val="000000"/>
                          </a:solidFill>
                          <a:latin typeface="Times New Roman"/>
                        </a:rPr>
                        <a:t>Voltage, current and short-circuit protection</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Hardware</a:t>
                      </a:r>
                    </a:p>
                  </a:txBody>
                  <a:tcPr anchor="ctr" marL="64008" marR="64008" marT="27432" marB="27432">
                    <a:solidFill>
                      <a:srgbClr val="D0D8E8"/>
                    </a:solidFill>
                  </a:tcPr>
                </a:tc>
                <a:tc>
                  <a:txBody>
                    <a:bodyPr/>
                    <a:lstStyle/>
                    <a:p>
                      <a:pPr algn="l"/>
                      <a:r>
                        <a:rPr sz="1400" b="0" i="0" u="none">
                          <a:solidFill>
                            <a:srgbClr val="000000"/>
                          </a:solidFill>
                          <a:latin typeface="Times New Roman"/>
                        </a:rPr>
                        <a:t>ADS1115 16-bit ADC</a:t>
                      </a:r>
                    </a:p>
                  </a:txBody>
                  <a:tcPr anchor="ctr" marL="64008" marR="64008" marT="27432" marB="27432">
                    <a:solidFill>
                      <a:srgbClr val="D0D8E8"/>
                    </a:solidFill>
                  </a:tcPr>
                </a:tc>
                <a:tc>
                  <a:txBody>
                    <a:bodyPr/>
                    <a:lstStyle/>
                    <a:p>
                      <a:pPr algn="l"/>
                      <a:r>
                        <a:rPr sz="1400" b="0" i="0" u="none">
                          <a:solidFill>
                            <a:srgbClr val="000000"/>
                          </a:solidFill>
                          <a:latin typeface="Times New Roman"/>
                        </a:rPr>
                        <a:t>The four cell-tap voltages</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Hardware</a:t>
                      </a:r>
                    </a:p>
                  </a:txBody>
                  <a:tcPr anchor="ctr" marL="64008" marR="64008" marT="27432" marB="27432">
                    <a:solidFill>
                      <a:srgbClr val="D0D8E8"/>
                    </a:solidFill>
                  </a:tcPr>
                </a:tc>
                <a:tc>
                  <a:txBody>
                    <a:bodyPr/>
                    <a:lstStyle/>
                    <a:p>
                      <a:pPr algn="l"/>
                      <a:r>
                        <a:rPr sz="1400" b="0" i="0" u="none">
                          <a:solidFill>
                            <a:srgbClr val="000000"/>
                          </a:solidFill>
                          <a:latin typeface="Times New Roman"/>
                        </a:rPr>
                        <a:t>INA226 with 5 mΩ shunt</a:t>
                      </a:r>
                    </a:p>
                  </a:txBody>
                  <a:tcPr anchor="ctr" marL="64008" marR="64008" marT="27432" marB="27432">
                    <a:solidFill>
                      <a:srgbClr val="D0D8E8"/>
                    </a:solidFill>
                  </a:tcPr>
                </a:tc>
                <a:tc>
                  <a:txBody>
                    <a:bodyPr/>
                    <a:lstStyle/>
                    <a:p>
                      <a:pPr algn="l"/>
                      <a:r>
                        <a:rPr sz="1400" b="0" i="0" u="none">
                          <a:solidFill>
                            <a:srgbClr val="000000"/>
                          </a:solidFill>
                          <a:latin typeface="Times New Roman"/>
                        </a:rPr>
                        <a:t>Pack current, charging and discharging</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Hardware</a:t>
                      </a:r>
                    </a:p>
                  </a:txBody>
                  <a:tcPr anchor="ctr" marL="64008" marR="64008" marT="27432" marB="27432">
                    <a:solidFill>
                      <a:srgbClr val="D0D8E8"/>
                    </a:solidFill>
                  </a:tcPr>
                </a:tc>
                <a:tc>
                  <a:txBody>
                    <a:bodyPr/>
                    <a:lstStyle/>
                    <a:p>
                      <a:pPr algn="l"/>
                      <a:r>
                        <a:rPr sz="1400" b="0" i="0" u="none">
                          <a:solidFill>
                            <a:srgbClr val="000000"/>
                          </a:solidFill>
                          <a:latin typeface="Times New Roman"/>
                        </a:rPr>
                        <a:t>5 × NTC 10 kΩ B3950</a:t>
                      </a:r>
                    </a:p>
                  </a:txBody>
                  <a:tcPr anchor="ctr" marL="64008" marR="64008" marT="27432" marB="27432">
                    <a:solidFill>
                      <a:srgbClr val="D0D8E8"/>
                    </a:solidFill>
                  </a:tcPr>
                </a:tc>
                <a:tc>
                  <a:txBody>
                    <a:bodyPr/>
                    <a:lstStyle/>
                    <a:p>
                      <a:pPr algn="l"/>
                      <a:r>
                        <a:rPr sz="1400" b="0" i="0" u="none">
                          <a:solidFill>
                            <a:srgbClr val="000000"/>
                          </a:solidFill>
                          <a:latin typeface="Times New Roman"/>
                        </a:rPr>
                        <a:t>Temperature of each cell and of the air</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Hardware</a:t>
                      </a:r>
                    </a:p>
                  </a:txBody>
                  <a:tcPr anchor="ctr" marL="64008" marR="64008" marT="27432" marB="27432">
                    <a:solidFill>
                      <a:srgbClr val="D0D8E8"/>
                    </a:solidFill>
                  </a:tcPr>
                </a:tc>
                <a:tc>
                  <a:txBody>
                    <a:bodyPr/>
                    <a:lstStyle/>
                    <a:p>
                      <a:pPr algn="l"/>
                      <a:r>
                        <a:rPr sz="1400" b="0" i="0" u="none">
                          <a:solidFill>
                            <a:srgbClr val="000000"/>
                          </a:solidFill>
                          <a:latin typeface="Times New Roman"/>
                        </a:rPr>
                        <a:t>2-channel 5 V relay module</a:t>
                      </a:r>
                    </a:p>
                  </a:txBody>
                  <a:tcPr anchor="ctr" marL="64008" marR="64008" marT="27432" marB="27432">
                    <a:solidFill>
                      <a:srgbClr val="D0D8E8"/>
                    </a:solidFill>
                  </a:tcPr>
                </a:tc>
                <a:tc>
                  <a:txBody>
                    <a:bodyPr/>
                    <a:lstStyle/>
                    <a:p>
                      <a:pPr algn="l"/>
                      <a:r>
                        <a:rPr sz="1400" b="0" i="0" u="none">
                          <a:solidFill>
                            <a:srgbClr val="000000"/>
                          </a:solidFill>
                          <a:latin typeface="Times New Roman"/>
                        </a:rPr>
                        <a:t>Separate charge and load disconnect</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Hardware</a:t>
                      </a:r>
                    </a:p>
                  </a:txBody>
                  <a:tcPr anchor="ctr" marL="64008" marR="64008" marT="27432" marB="27432">
                    <a:solidFill>
                      <a:srgbClr val="D0D8E8"/>
                    </a:solidFill>
                  </a:tcPr>
                </a:tc>
                <a:tc>
                  <a:txBody>
                    <a:bodyPr/>
                    <a:lstStyle/>
                    <a:p>
                      <a:pPr algn="l"/>
                      <a:r>
                        <a:rPr sz="1400" b="0" i="0" u="none">
                          <a:solidFill>
                            <a:srgbClr val="000000"/>
                          </a:solidFill>
                          <a:latin typeface="Times New Roman"/>
                        </a:rPr>
                        <a:t>LM2596, 7.5 A fuse, buzzer</a:t>
                      </a:r>
                    </a:p>
                  </a:txBody>
                  <a:tcPr anchor="ctr" marL="64008" marR="64008" marT="27432" marB="27432">
                    <a:solidFill>
                      <a:srgbClr val="D0D8E8"/>
                    </a:solidFill>
                  </a:tcPr>
                </a:tc>
                <a:tc>
                  <a:txBody>
                    <a:bodyPr/>
                    <a:lstStyle/>
                    <a:p>
                      <a:pPr algn="l"/>
                      <a:r>
                        <a:rPr sz="1400" b="0" i="0" u="none">
                          <a:solidFill>
                            <a:srgbClr val="000000"/>
                          </a:solidFill>
                          <a:latin typeface="Times New Roman"/>
                        </a:rPr>
                        <a:t>5 V supply, wiring protection, local alarm</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Software</a:t>
                      </a:r>
                    </a:p>
                  </a:txBody>
                  <a:tcPr anchor="ctr" marL="64008" marR="64008" marT="27432" marB="27432">
                    <a:solidFill>
                      <a:srgbClr val="D0D8E8"/>
                    </a:solidFill>
                  </a:tcPr>
                </a:tc>
                <a:tc>
                  <a:txBody>
                    <a:bodyPr/>
                    <a:lstStyle/>
                    <a:p>
                      <a:pPr algn="l"/>
                      <a:r>
                        <a:rPr sz="1400" b="0" i="0" u="none">
                          <a:solidFill>
                            <a:srgbClr val="000000"/>
                          </a:solidFill>
                          <a:latin typeface="Times New Roman"/>
                        </a:rPr>
                        <a:t>ESP-IDF with C++</a:t>
                      </a:r>
                    </a:p>
                  </a:txBody>
                  <a:tcPr anchor="ctr" marL="64008" marR="64008" marT="27432" marB="27432">
                    <a:solidFill>
                      <a:srgbClr val="D0D8E8"/>
                    </a:solidFill>
                  </a:tcPr>
                </a:tc>
                <a:tc>
                  <a:txBody>
                    <a:bodyPr/>
                    <a:lstStyle/>
                    <a:p>
                      <a:pPr algn="l"/>
                      <a:r>
                        <a:rPr sz="1400" b="0" i="0" u="none">
                          <a:solidFill>
                            <a:srgbClr val="000000"/>
                          </a:solidFill>
                          <a:latin typeface="Times New Roman"/>
                        </a:rPr>
                        <a:t>Firmware framework and language</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Software</a:t>
                      </a:r>
                    </a:p>
                  </a:txBody>
                  <a:tcPr anchor="ctr" marL="64008" marR="64008" marT="27432" marB="27432">
                    <a:solidFill>
                      <a:srgbClr val="D0D8E8"/>
                    </a:solidFill>
                  </a:tcPr>
                </a:tc>
                <a:tc>
                  <a:txBody>
                    <a:bodyPr/>
                    <a:lstStyle/>
                    <a:p>
                      <a:pPr algn="l"/>
                      <a:r>
                        <a:rPr sz="1400" b="0" i="0" u="none">
                          <a:solidFill>
                            <a:srgbClr val="000000"/>
                          </a:solidFill>
                          <a:latin typeface="Times New Roman"/>
                        </a:rPr>
                        <a:t>FreeRTOS</a:t>
                      </a:r>
                    </a:p>
                  </a:txBody>
                  <a:tcPr anchor="ctr" marL="64008" marR="64008" marT="27432" marB="27432">
                    <a:solidFill>
                      <a:srgbClr val="D0D8E8"/>
                    </a:solidFill>
                  </a:tcPr>
                </a:tc>
                <a:tc>
                  <a:txBody>
                    <a:bodyPr/>
                    <a:lstStyle/>
                    <a:p>
                      <a:pPr algn="l"/>
                      <a:r>
                        <a:rPr sz="1400" b="0" i="0" u="none">
                          <a:solidFill>
                            <a:srgbClr val="000000"/>
                          </a:solidFill>
                          <a:latin typeface="Times New Roman"/>
                        </a:rPr>
                        <a:t>Sensor, safety and telemetry tasks</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Software</a:t>
                      </a:r>
                    </a:p>
                  </a:txBody>
                  <a:tcPr anchor="ctr" marL="64008" marR="64008" marT="27432" marB="27432">
                    <a:solidFill>
                      <a:srgbClr val="D0D8E8"/>
                    </a:solidFill>
                  </a:tcPr>
                </a:tc>
                <a:tc>
                  <a:txBody>
                    <a:bodyPr/>
                    <a:lstStyle/>
                    <a:p>
                      <a:pPr algn="l"/>
                      <a:r>
                        <a:rPr sz="1400" b="0" i="0" u="none">
                          <a:solidFill>
                            <a:srgbClr val="000000"/>
                          </a:solidFill>
                          <a:latin typeface="Times New Roman"/>
                        </a:rPr>
                        <a:t>HTML, CSS, JavaScript</a:t>
                      </a:r>
                    </a:p>
                  </a:txBody>
                  <a:tcPr anchor="ctr" marL="64008" marR="64008" marT="27432" marB="27432">
                    <a:solidFill>
                      <a:srgbClr val="D0D8E8"/>
                    </a:solidFill>
                  </a:tcPr>
                </a:tc>
                <a:tc>
                  <a:txBody>
                    <a:bodyPr/>
                    <a:lstStyle/>
                    <a:p>
                      <a:pPr algn="l"/>
                      <a:r>
                        <a:rPr sz="1400" b="0" i="0" u="none">
                          <a:solidFill>
                            <a:srgbClr val="000000"/>
                          </a:solidFill>
                          <a:latin typeface="Times New Roman"/>
                        </a:rPr>
                        <a:t>The Wi-Fi dashboard</a:t>
                      </a:r>
                    </a:p>
                  </a:txBody>
                  <a:tcPr anchor="ctr" marL="64008" marR="64008" marT="27432" marB="27432">
                    <a:solidFill>
                      <a:srgbClr val="D0D8E8"/>
                    </a:solidFill>
                  </a:tcPr>
                </a:tc>
              </a:tr>
              <a:tr h="356616">
                <a:tc>
                  <a:txBody>
                    <a:bodyPr/>
                    <a:lstStyle/>
                    <a:p>
                      <a:pPr algn="ctr"/>
                      <a:r>
                        <a:rPr sz="1400" b="0" i="0" u="none">
                          <a:solidFill>
                            <a:srgbClr val="000000"/>
                          </a:solidFill>
                          <a:latin typeface="Times New Roman"/>
                        </a:rPr>
                        <a:t>Software</a:t>
                      </a:r>
                    </a:p>
                  </a:txBody>
                  <a:tcPr anchor="ctr" marL="64008" marR="64008" marT="27432" marB="27432">
                    <a:solidFill>
                      <a:srgbClr val="D0D8E8"/>
                    </a:solidFill>
                  </a:tcPr>
                </a:tc>
                <a:tc>
                  <a:txBody>
                    <a:bodyPr/>
                    <a:lstStyle/>
                    <a:p>
                      <a:pPr algn="l"/>
                      <a:r>
                        <a:rPr sz="1400" b="0" i="0" u="none">
                          <a:solidFill>
                            <a:srgbClr val="000000"/>
                          </a:solidFill>
                          <a:latin typeface="Times New Roman"/>
                        </a:rPr>
                        <a:t>FreeCAD, Git and GitHub</a:t>
                      </a:r>
                    </a:p>
                  </a:txBody>
                  <a:tcPr anchor="ctr" marL="64008" marR="64008" marT="27432" marB="27432">
                    <a:solidFill>
                      <a:srgbClr val="D0D8E8"/>
                    </a:solidFill>
                  </a:tcPr>
                </a:tc>
                <a:tc>
                  <a:txBody>
                    <a:bodyPr/>
                    <a:lstStyle/>
                    <a:p>
                      <a:pPr algn="l"/>
                      <a:r>
                        <a:rPr sz="1400" b="0" i="0" u="none">
                          <a:solidFill>
                            <a:srgbClr val="000000"/>
                          </a:solidFill>
                          <a:latin typeface="Times New Roman"/>
                        </a:rPr>
                        <a:t>Enclosure model, version control</a:t>
                      </a:r>
                    </a:p>
                  </a:txBody>
                  <a:tcPr anchor="ctr" marL="64008" marR="64008" marT="27432" marB="27432">
                    <a:solidFill>
                      <a:srgbClr val="D0D8E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13</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Project Timeline</a:t>
            </a:r>
          </a:p>
        </p:txBody>
      </p:sp>
      <p:graphicFrame>
        <p:nvGraphicFramePr>
          <p:cNvPr id="8" name="Table 7"/>
          <p:cNvGraphicFramePr>
            <a:graphicFrameLocks noGrp="1"/>
          </p:cNvGraphicFramePr>
          <p:nvPr/>
        </p:nvGraphicFramePr>
        <p:xfrm>
          <a:off x="320039" y="1261872"/>
          <a:ext cx="8503920" cy="4059935"/>
        </p:xfrm>
        <a:graphic>
          <a:graphicData uri="http://schemas.openxmlformats.org/drawingml/2006/table">
            <a:tbl>
              <a:tblPr firstRow="1">
                <a:tableStyleId>{5C22544A-7EE6-4342-B048-85BDC9FD1C3A}</a:tableStyleId>
              </a:tblPr>
              <a:tblGrid>
                <a:gridCol w="3474720"/>
                <a:gridCol w="1005840"/>
                <a:gridCol w="1005840"/>
                <a:gridCol w="1005840"/>
                <a:gridCol w="1005840"/>
                <a:gridCol w="1005840"/>
              </a:tblGrid>
              <a:tr h="676655">
                <a:tc>
                  <a:txBody>
                    <a:bodyPr/>
                    <a:lstStyle/>
                    <a:p>
                      <a:pPr algn="ctr"/>
                      <a:r>
                        <a:rPr sz="1500" b="1" i="0" u="none">
                          <a:solidFill>
                            <a:srgbClr val="FFFFFF"/>
                          </a:solidFill>
                          <a:latin typeface="Times New Roman"/>
                        </a:rPr>
                        <a:t>Activity</a:t>
                      </a:r>
                    </a:p>
                  </a:txBody>
                  <a:tcPr anchor="ctr" marL="64008" marR="64008">
                    <a:solidFill>
                      <a:srgbClr val="4F81BD"/>
                    </a:solidFill>
                  </a:tcPr>
                </a:tc>
                <a:tc>
                  <a:txBody>
                    <a:bodyPr/>
                    <a:lstStyle/>
                    <a:p>
                      <a:pPr algn="ctr"/>
                      <a:r>
                        <a:rPr sz="1500" b="1" i="0" u="none">
                          <a:solidFill>
                            <a:srgbClr val="FFFFFF"/>
                          </a:solidFill>
                          <a:latin typeface="Times New Roman"/>
                        </a:rPr>
                        <a:t>Month 1</a:t>
                      </a:r>
                    </a:p>
                  </a:txBody>
                  <a:tcPr anchor="ctr" marL="64008" marR="64008">
                    <a:solidFill>
                      <a:srgbClr val="4F81BD"/>
                    </a:solidFill>
                  </a:tcPr>
                </a:tc>
                <a:tc>
                  <a:txBody>
                    <a:bodyPr/>
                    <a:lstStyle/>
                    <a:p>
                      <a:pPr algn="ctr"/>
                      <a:r>
                        <a:rPr sz="1500" b="1" i="0" u="none">
                          <a:solidFill>
                            <a:srgbClr val="FFFFFF"/>
                          </a:solidFill>
                          <a:latin typeface="Times New Roman"/>
                        </a:rPr>
                        <a:t>Month 2</a:t>
                      </a:r>
                    </a:p>
                  </a:txBody>
                  <a:tcPr anchor="ctr" marL="64008" marR="64008">
                    <a:solidFill>
                      <a:srgbClr val="4F81BD"/>
                    </a:solidFill>
                  </a:tcPr>
                </a:tc>
                <a:tc>
                  <a:txBody>
                    <a:bodyPr/>
                    <a:lstStyle/>
                    <a:p>
                      <a:pPr algn="ctr"/>
                      <a:r>
                        <a:rPr sz="1500" b="1" i="0" u="none">
                          <a:solidFill>
                            <a:srgbClr val="FFFFFF"/>
                          </a:solidFill>
                          <a:latin typeface="Times New Roman"/>
                        </a:rPr>
                        <a:t>Month 3</a:t>
                      </a:r>
                    </a:p>
                  </a:txBody>
                  <a:tcPr anchor="ctr" marL="64008" marR="64008">
                    <a:solidFill>
                      <a:srgbClr val="4F81BD"/>
                    </a:solidFill>
                  </a:tcPr>
                </a:tc>
                <a:tc>
                  <a:txBody>
                    <a:bodyPr/>
                    <a:lstStyle/>
                    <a:p>
                      <a:pPr algn="ctr"/>
                      <a:r>
                        <a:rPr sz="1500" b="1" i="0" u="none">
                          <a:solidFill>
                            <a:srgbClr val="FFFFFF"/>
                          </a:solidFill>
                          <a:latin typeface="Times New Roman"/>
                        </a:rPr>
                        <a:t>Month 4</a:t>
                      </a:r>
                    </a:p>
                  </a:txBody>
                  <a:tcPr anchor="ctr" marL="64008" marR="64008">
                    <a:solidFill>
                      <a:srgbClr val="4F81BD"/>
                    </a:solidFill>
                  </a:tcPr>
                </a:tc>
                <a:tc>
                  <a:txBody>
                    <a:bodyPr/>
                    <a:lstStyle/>
                    <a:p>
                      <a:pPr algn="ctr"/>
                      <a:r>
                        <a:rPr sz="1500" b="1" i="0" u="none">
                          <a:solidFill>
                            <a:srgbClr val="FFFFFF"/>
                          </a:solidFill>
                          <a:latin typeface="Times New Roman"/>
                        </a:rPr>
                        <a:t>Month 5</a:t>
                      </a:r>
                    </a:p>
                  </a:txBody>
                  <a:tcPr anchor="ctr" marL="64008" marR="64008">
                    <a:solidFill>
                      <a:srgbClr val="4F81BD"/>
                    </a:solidFill>
                  </a:tcPr>
                </a:tc>
              </a:tr>
              <a:tr h="676655">
                <a:tc>
                  <a:txBody>
                    <a:bodyPr/>
                    <a:lstStyle/>
                    <a:p>
                      <a:pPr algn="l"/>
                      <a:r>
                        <a:rPr sz="1500" b="1" i="0" u="none">
                          <a:solidFill>
                            <a:srgbClr val="000000"/>
                          </a:solidFill>
                          <a:latin typeface="Times New Roman"/>
                        </a:rPr>
                        <a:t>Objective 1: </a:t>
                      </a:r>
                      <a:r>
                        <a:rPr sz="1500" b="0" i="0" u="none">
                          <a:solidFill>
                            <a:srgbClr val="000000"/>
                          </a:solidFill>
                          <a:latin typeface="Times New Roman"/>
                        </a:rPr>
                        <a:t>Literature Survey &amp; System Study</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r>
              <a:tr h="676655">
                <a:tc>
                  <a:txBody>
                    <a:bodyPr/>
                    <a:lstStyle/>
                    <a:p>
                      <a:pPr algn="l"/>
                      <a:r>
                        <a:rPr sz="1500" b="1" i="0" u="none">
                          <a:solidFill>
                            <a:srgbClr val="000000"/>
                          </a:solidFill>
                          <a:latin typeface="Times New Roman"/>
                        </a:rPr>
                        <a:t>Objective 2: </a:t>
                      </a:r>
                      <a:r>
                        <a:rPr sz="1500" b="0" i="0" u="none">
                          <a:solidFill>
                            <a:srgbClr val="000000"/>
                          </a:solidFill>
                          <a:latin typeface="Times New Roman"/>
                        </a:rPr>
                        <a:t>Two-Layer Design &amp; Component Selection</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r>
              <a:tr h="676655">
                <a:tc>
                  <a:txBody>
                    <a:bodyPr/>
                    <a:lstStyle/>
                    <a:p>
                      <a:pPr algn="l"/>
                      <a:r>
                        <a:rPr sz="1500" b="1" i="0" u="none">
                          <a:solidFill>
                            <a:srgbClr val="000000"/>
                          </a:solidFill>
                          <a:latin typeface="Times New Roman"/>
                        </a:rPr>
                        <a:t>Objective 3: </a:t>
                      </a:r>
                      <a:r>
                        <a:rPr sz="1500" b="0" i="0" u="none">
                          <a:solidFill>
                            <a:srgbClr val="000000"/>
                          </a:solidFill>
                          <a:latin typeface="Times New Roman"/>
                        </a:rPr>
                        <a:t>Sensing Hardware, Pack Assembly &amp; Calibration</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r>
              <a:tr h="676655">
                <a:tc>
                  <a:txBody>
                    <a:bodyPr/>
                    <a:lstStyle/>
                    <a:p>
                      <a:pPr algn="l"/>
                      <a:r>
                        <a:rPr sz="1500" b="1" i="0" u="none">
                          <a:solidFill>
                            <a:srgbClr val="000000"/>
                          </a:solidFill>
                          <a:latin typeface="Times New Roman"/>
                        </a:rPr>
                        <a:t>Objective 4: </a:t>
                      </a:r>
                      <a:r>
                        <a:rPr sz="1500" b="0" i="0" u="none">
                          <a:solidFill>
                            <a:srgbClr val="000000"/>
                          </a:solidFill>
                          <a:latin typeface="Times New Roman"/>
                        </a:rPr>
                        <a:t>Thermal Prediction &amp; Safety State Machine</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r>
              <a:tr h="676660">
                <a:tc>
                  <a:txBody>
                    <a:bodyPr/>
                    <a:lstStyle/>
                    <a:p>
                      <a:pPr algn="l"/>
                      <a:r>
                        <a:rPr sz="1500" b="1" i="0" u="none">
                          <a:solidFill>
                            <a:srgbClr val="000000"/>
                          </a:solidFill>
                          <a:latin typeface="Times New Roman"/>
                        </a:rPr>
                        <a:t>Objective 5: </a:t>
                      </a:r>
                      <a:r>
                        <a:rPr sz="1500" b="0" i="0" u="none">
                          <a:solidFill>
                            <a:srgbClr val="000000"/>
                          </a:solidFill>
                          <a:latin typeface="Times New Roman"/>
                        </a:rPr>
                        <a:t>Wi-Fi Dashboard, Testing &amp; Documentation</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c>
                  <a:txBody>
                    <a:bodyPr/>
                    <a:lstStyle/>
                    <a:p>
                      <a:pPr algn="ctr"/>
                      <a:r>
                        <a:rPr sz="1500" b="0" i="0" u="none">
                          <a:solidFill>
                            <a:srgbClr val="000000"/>
                          </a:solidFill>
                          <a:latin typeface="Times New Roman"/>
                        </a:rPr>
                        <a:t/>
                      </a:r>
                    </a:p>
                  </a:txBody>
                  <a:tcPr anchor="ctr" marL="64008" marR="64008" marT="27432" marB="27432">
                    <a:solidFill>
                      <a:srgbClr val="D0D8E8"/>
                    </a:solidFill>
                  </a:tcPr>
                </a:tc>
              </a:tr>
            </a:tbl>
          </a:graphicData>
        </a:graphic>
      </p:graphicFrame>
      <p:sp>
        <p:nvSpPr>
          <p:cNvPr id="9" name="TextBox 8"/>
          <p:cNvSpPr txBox="1"/>
          <p:nvPr/>
        </p:nvSpPr>
        <p:spPr>
          <a:xfrm>
            <a:off x="5714999" y="5705856"/>
            <a:ext cx="2926080" cy="512064"/>
          </a:xfrm>
          <a:prstGeom prst="rect">
            <a:avLst/>
          </a:prstGeom>
          <a:noFill/>
        </p:spPr>
        <p:txBody>
          <a:bodyPr wrap="square" lIns="0" rIns="0" tIns="0" bIns="0">
            <a:noAutofit/>
          </a:bodyPr>
          <a:lstStyle/>
          <a:p>
            <a:pPr algn="r"/>
            <a:r>
              <a:rPr sz="1500" b="0" i="0" u="none">
                <a:solidFill>
                  <a:srgbClr val="000000"/>
                </a:solidFill>
                <a:latin typeface="Times New Roman"/>
              </a:rPr>
              <a:t>✓ = Completed</a:t>
            </a:r>
          </a:p>
          <a:p>
            <a:pPr algn="r"/>
            <a:r>
              <a:rPr sz="1500" b="0" i="0" u="none">
                <a:solidFill>
                  <a:srgbClr val="000000"/>
                </a:solidFill>
                <a:latin typeface="Times New Roman"/>
              </a:rPr>
              <a:t>✗ = Yet to be done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14</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References</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384048" indent="-384048" algn="just">
              <a:lnSpc>
                <a:spcPct val="110000"/>
              </a:lnSpc>
              <a:spcAft>
                <a:spcPts val="2000"/>
              </a:spcAft>
              <a:buNone/>
            </a:pPr>
            <a:r>
              <a:rPr sz="1400" b="0" i="0" u="none">
                <a:solidFill>
                  <a:srgbClr val="000000"/>
                </a:solidFill>
                <a:latin typeface="Times New Roman"/>
              </a:rPr>
              <a:t>[1]  </a:t>
            </a:r>
            <a:r>
              <a:rPr sz="1400" b="0" i="0" u="none">
                <a:solidFill>
                  <a:srgbClr val="000000"/>
                </a:solidFill>
                <a:latin typeface="Times New Roman"/>
              </a:rPr>
              <a:t>X. Feng, M. Ouyang, X. Liu, L. Lu, Y. Xia, and X. He, “Thermal runaway mechanism of lithium ion battery for electric vehicles: A review,” Energy Storage Mater., vol. 10, pp. 246–267, Jan. 2018, doi: 10.1016/j.ensm.2017.05.013.</a:t>
            </a:r>
          </a:p>
          <a:p>
            <a:pPr marL="384048" indent="-384048" algn="just">
              <a:lnSpc>
                <a:spcPct val="110000"/>
              </a:lnSpc>
              <a:spcAft>
                <a:spcPts val="2000"/>
              </a:spcAft>
              <a:buNone/>
            </a:pPr>
            <a:r>
              <a:rPr sz="1400" b="0" i="0" u="none">
                <a:solidFill>
                  <a:srgbClr val="000000"/>
                </a:solidFill>
                <a:latin typeface="Times New Roman"/>
              </a:rPr>
              <a:t>[2]  </a:t>
            </a:r>
            <a:r>
              <a:rPr sz="1400" b="0" i="0" u="none">
                <a:solidFill>
                  <a:srgbClr val="000000"/>
                </a:solidFill>
                <a:latin typeface="Times New Roman"/>
              </a:rPr>
              <a:t>H. Rahimi-Eichi, U. Ojha, F. Baronti, and M.-Y. Chow, “Battery management system: An overview of its application in the smart grid and electric vehicles,” IEEE Ind. Electron. Mag., vol. 7, no. 2, pp. 4–16, Jun. 2013, doi: 10.1109/MIE.2013.2250351.</a:t>
            </a:r>
          </a:p>
          <a:p>
            <a:pPr marL="384048" indent="-384048" algn="just">
              <a:lnSpc>
                <a:spcPct val="110000"/>
              </a:lnSpc>
              <a:spcAft>
                <a:spcPts val="2000"/>
              </a:spcAft>
              <a:buNone/>
            </a:pPr>
            <a:r>
              <a:rPr sz="1400" b="0" i="0" u="none">
                <a:solidFill>
                  <a:srgbClr val="000000"/>
                </a:solidFill>
                <a:latin typeface="Times New Roman"/>
              </a:rPr>
              <a:t>[3]  </a:t>
            </a:r>
            <a:r>
              <a:rPr sz="1400" b="0" i="0" u="none">
                <a:solidFill>
                  <a:srgbClr val="000000"/>
                </a:solidFill>
                <a:latin typeface="Times New Roman"/>
              </a:rPr>
              <a:t>B. Xu, L. Kong, G. Wen, and M. G. Pecht, “Protection devices in commercial 18650 lithium-ion batteries,” IEEE Access, vol. 9, pp. 66687–66695, 2021, doi: 10.1109/ACCESS.2021.3075972.</a:t>
            </a:r>
          </a:p>
          <a:p>
            <a:pPr marL="384048" indent="-384048" algn="just">
              <a:lnSpc>
                <a:spcPct val="110000"/>
              </a:lnSpc>
              <a:spcAft>
                <a:spcPts val="2000"/>
              </a:spcAft>
              <a:buNone/>
            </a:pPr>
            <a:r>
              <a:rPr sz="1400" b="0" i="0" u="none">
                <a:solidFill>
                  <a:srgbClr val="000000"/>
                </a:solidFill>
                <a:latin typeface="Times New Roman"/>
              </a:rPr>
              <a:t>[4]  </a:t>
            </a:r>
            <a:r>
              <a:rPr sz="1400" b="0" i="0" u="none">
                <a:solidFill>
                  <a:srgbClr val="000000"/>
                </a:solidFill>
                <a:latin typeface="Times New Roman"/>
              </a:rPr>
              <a:t>X. Hu, K. Zhang, K. Liu, X. Lin, S. Dey, and S. Onori, “Advanced fault diagnosis for lithium-ion battery systems: A review of fault mechanisms, fault features, and diagnosis procedures,” IEEE Ind. Electron. Mag., vol. 14, no. 3, pp. 65–91, Sep. 2020, doi: 10.1109/MIE.2020.2964814.</a:t>
            </a:r>
          </a:p>
          <a:p>
            <a:pPr marL="384048" indent="-384048" algn="just">
              <a:lnSpc>
                <a:spcPct val="110000"/>
              </a:lnSpc>
              <a:spcAft>
                <a:spcPts val="2000"/>
              </a:spcAft>
              <a:buNone/>
            </a:pPr>
            <a:r>
              <a:rPr sz="1400" b="0" i="0" u="none">
                <a:solidFill>
                  <a:srgbClr val="000000"/>
                </a:solidFill>
                <a:latin typeface="Times New Roman"/>
              </a:rPr>
              <a:t>[5]  </a:t>
            </a:r>
            <a:r>
              <a:rPr sz="1400" b="0" i="0" u="none">
                <a:solidFill>
                  <a:srgbClr val="000000"/>
                </a:solidFill>
                <a:latin typeface="Times New Roman"/>
              </a:rPr>
              <a:t>X. Zhang, S. Chen, J. Zhu, and Y. Gao, “A critical review of thermal runaway prediction and early-warning methods for lithium-ion batteries,” Energy Mater. Adv., vol. 4, Art. no. 0008, 2023, doi: 10.34133/energymatadv.0008.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15</a:t>
            </a:r>
          </a:p>
        </p:txBody>
      </p:sp>
      <p:sp>
        <p:nvSpPr>
          <p:cNvPr id="7" name="TextBox 6"/>
          <p:cNvSpPr txBox="1"/>
          <p:nvPr/>
        </p:nvSpPr>
        <p:spPr>
          <a:xfrm>
            <a:off x="457200" y="457200"/>
            <a:ext cx="8183879" cy="640080"/>
          </a:xfrm>
          <a:prstGeom prst="rect">
            <a:avLst/>
          </a:prstGeom>
          <a:noFill/>
        </p:spPr>
        <p:txBody>
          <a:bodyPr wrap="square" lIns="0" rIns="0" tIns="0" bIns="0">
            <a:noAutofit/>
          </a:bodyPr>
          <a:lstStyle/>
          <a:p>
            <a:r>
              <a:rPr sz="3200" b="0" i="0" u="none">
                <a:solidFill>
                  <a:srgbClr val="000000"/>
                </a:solidFill>
                <a:latin typeface="Times New Roman"/>
              </a:rPr>
              <a:t>References (contd.)</a:t>
            </a:r>
          </a:p>
        </p:txBody>
      </p:sp>
      <p:sp>
        <p:nvSpPr>
          <p:cNvPr id="8" name="TextBox 7"/>
          <p:cNvSpPr txBox="1"/>
          <p:nvPr/>
        </p:nvSpPr>
        <p:spPr>
          <a:xfrm>
            <a:off x="566928" y="1261872"/>
            <a:ext cx="8074152" cy="4956048"/>
          </a:xfrm>
          <a:prstGeom prst="rect">
            <a:avLst/>
          </a:prstGeom>
          <a:noFill/>
        </p:spPr>
        <p:txBody>
          <a:bodyPr wrap="square" lIns="0" rIns="0" tIns="0" bIns="0">
            <a:noAutofit/>
          </a:bodyPr>
          <a:lstStyle/>
          <a:p>
            <a:pPr marL="384048" indent="-384048" algn="just">
              <a:lnSpc>
                <a:spcPct val="110000"/>
              </a:lnSpc>
              <a:spcAft>
                <a:spcPts val="2000"/>
              </a:spcAft>
              <a:buNone/>
            </a:pPr>
            <a:r>
              <a:rPr sz="1400" b="0" i="0" u="none">
                <a:solidFill>
                  <a:srgbClr val="000000"/>
                </a:solidFill>
                <a:latin typeface="Times New Roman"/>
              </a:rPr>
              <a:t>[6]  </a:t>
            </a:r>
            <a:r>
              <a:rPr sz="1400" b="0" i="0" u="none">
                <a:solidFill>
                  <a:srgbClr val="000000"/>
                </a:solidFill>
                <a:latin typeface="Times New Roman"/>
              </a:rPr>
              <a:t>Z. Sun et al., “An online data-driven fault diagnosis and thermal runaway early warning for electric vehicle batteries,” IEEE Trans. Power Electron., vol. 37, no. 10, pp. 12636–12646, Oct. 2022, doi: 10.1109/TPEL.2022.3173038.</a:t>
            </a:r>
          </a:p>
          <a:p>
            <a:pPr marL="384048" indent="-384048" algn="just">
              <a:lnSpc>
                <a:spcPct val="110000"/>
              </a:lnSpc>
              <a:spcAft>
                <a:spcPts val="2000"/>
              </a:spcAft>
              <a:buNone/>
            </a:pPr>
            <a:r>
              <a:rPr sz="1400" b="0" i="0" u="none">
                <a:solidFill>
                  <a:srgbClr val="000000"/>
                </a:solidFill>
                <a:latin typeface="Times New Roman"/>
              </a:rPr>
              <a:t>[7]  </a:t>
            </a:r>
            <a:r>
              <a:rPr sz="1400" b="0" i="0" u="none">
                <a:solidFill>
                  <a:srgbClr val="000000"/>
                </a:solidFill>
                <a:latin typeface="Times New Roman"/>
              </a:rPr>
              <a:t>O. Ojo, H. Lang, Y. Kim, X. Hu, B. Mu, and X. Lin, “A neural network based method for thermal fault detection in lithium-ion batteries,” IEEE Trans. Ind. Electron., vol. 68, no. 5, pp. 4068–4078, May 2021, doi: 10.1109/TIE.2020.2984980.</a:t>
            </a:r>
          </a:p>
          <a:p>
            <a:pPr marL="384048" indent="-384048" algn="just">
              <a:lnSpc>
                <a:spcPct val="110000"/>
              </a:lnSpc>
              <a:spcAft>
                <a:spcPts val="2000"/>
              </a:spcAft>
              <a:buNone/>
            </a:pPr>
            <a:r>
              <a:rPr sz="1400" b="0" i="0" u="none">
                <a:solidFill>
                  <a:srgbClr val="000000"/>
                </a:solidFill>
                <a:latin typeface="Times New Roman"/>
              </a:rPr>
              <a:t>[8]  </a:t>
            </a:r>
            <a:r>
              <a:rPr sz="1400" b="0" i="0" u="none">
                <a:solidFill>
                  <a:srgbClr val="000000"/>
                </a:solidFill>
                <a:latin typeface="Times New Roman"/>
              </a:rPr>
              <a:t>Q. Chen, Y. He, N. Fang, and G. Yu, “A combined data-driven and model-based algorithm for accurate battery thermal runaway warning,” Sensors, vol. 24, no. 15, Art. no. 4964, Jul. 2024, doi: 10.3390/s24154964.</a:t>
            </a:r>
          </a:p>
          <a:p>
            <a:pPr marL="384048" indent="-384048" algn="just">
              <a:lnSpc>
                <a:spcPct val="110000"/>
              </a:lnSpc>
              <a:spcAft>
                <a:spcPts val="2000"/>
              </a:spcAft>
              <a:buNone/>
            </a:pPr>
            <a:r>
              <a:rPr sz="1400" b="0" i="0" u="none">
                <a:solidFill>
                  <a:srgbClr val="000000"/>
                </a:solidFill>
                <a:latin typeface="Times New Roman"/>
              </a:rPr>
              <a:t>[9]  </a:t>
            </a:r>
            <a:r>
              <a:rPr sz="1400" b="0" i="0" u="none">
                <a:solidFill>
                  <a:srgbClr val="000000"/>
                </a:solidFill>
                <a:latin typeface="Times New Roman"/>
              </a:rPr>
              <a:t>X. Lin et al., “Online parameterization of lumped thermal dynamics in cylindrical lithium ion batteries for core temperature estimation and health monitoring,” IEEE Trans. Control Syst. Technol., vol. 21, no. 5, pp. 1745–1755, Sep. 2013, doi: 10.1109/TCST.2012.2217143.</a:t>
            </a:r>
          </a:p>
          <a:p>
            <a:pPr marL="384048" indent="-384048" algn="just">
              <a:lnSpc>
                <a:spcPct val="110000"/>
              </a:lnSpc>
              <a:spcAft>
                <a:spcPts val="2000"/>
              </a:spcAft>
              <a:buNone/>
            </a:pPr>
            <a:r>
              <a:rPr sz="1400" b="0" i="0" u="none">
                <a:solidFill>
                  <a:srgbClr val="000000"/>
                </a:solidFill>
                <a:latin typeface="Times New Roman"/>
              </a:rPr>
              <a:t>[10]  </a:t>
            </a:r>
            <a:r>
              <a:rPr sz="1400" b="0" i="0" u="none">
                <a:solidFill>
                  <a:srgbClr val="000000"/>
                </a:solidFill>
                <a:latin typeface="Times New Roman"/>
              </a:rPr>
              <a:t>A. Adhikaree, T. Kim, J. Vagdoda, A. Ochoa, P. J. Hernandez, and Y. Lee, “Cloud-based battery condition monitoring platform for large-scale lithium-ion battery energy storage systems using internet-of-things (IoT),” in Proc. IEEE Energy Convers. Congr. Expo. (ECCE), 2017, pp. 1004–1009, doi: 10.1109/ECCE.2017.8095896.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155448" y="54864"/>
            <a:ext cx="8833104" cy="246888"/>
          </a:xfrm>
          <a:custGeom>
            <a:avLst/>
            <a:gdLst/>
            <a:ahLst/>
            <a:cxnLst/>
            <a:rect l="l" t="t" r="r" b="b"/>
            <a:pathLst>
              <a:path w="8833104" h="246888">
                <a:moveTo>
                  <a:pt x="0" y="0"/>
                </a:moveTo>
                <a:lnTo>
                  <a:pt x="8833104" y="0"/>
                </a:lnTo>
                <a:lnTo>
                  <a:pt x="8833104" y="201168"/>
                </a:lnTo>
                <a:lnTo>
                  <a:pt x="8787384" y="246888"/>
                </a:lnTo>
                <a:lnTo>
                  <a:pt x="0" y="24688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55448" y="54864"/>
            <a:ext cx="8833104" cy="192024"/>
          </a:xfrm>
          <a:custGeom>
            <a:avLst/>
            <a:gdLst/>
            <a:ahLst/>
            <a:cxnLst/>
            <a:rect l="l" t="t" r="r" b="b"/>
            <a:pathLst>
              <a:path w="8833104" h="192024">
                <a:moveTo>
                  <a:pt x="0" y="0"/>
                </a:moveTo>
                <a:lnTo>
                  <a:pt x="8833104" y="0"/>
                </a:lnTo>
                <a:lnTo>
                  <a:pt x="8833104" y="192024"/>
                </a:lnTo>
                <a:lnTo>
                  <a:pt x="0" y="19202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6382512"/>
            <a:ext cx="7315199" cy="292608"/>
          </a:xfrm>
          <a:custGeom>
            <a:avLst/>
            <a:gdLst/>
            <a:ahLst/>
            <a:cxnLst/>
            <a:rect l="l" t="t" r="r" b="b"/>
            <a:pathLst>
              <a:path w="7315199" h="292608">
                <a:moveTo>
                  <a:pt x="274320" y="0"/>
                </a:moveTo>
                <a:lnTo>
                  <a:pt x="6995160" y="0"/>
                </a:lnTo>
                <a:lnTo>
                  <a:pt x="7315199" y="292608"/>
                </a:lnTo>
                <a:lnTo>
                  <a:pt x="0" y="292608"/>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05839" y="6437376"/>
            <a:ext cx="7040880" cy="237744"/>
          </a:xfrm>
          <a:custGeom>
            <a:avLst/>
            <a:gdLst/>
            <a:ahLst/>
            <a:cxnLst/>
            <a:rect l="l" t="t" r="r" b="b"/>
            <a:pathLst>
              <a:path w="7040880" h="237744">
                <a:moveTo>
                  <a:pt x="201168" y="0"/>
                </a:moveTo>
                <a:lnTo>
                  <a:pt x="6793992" y="0"/>
                </a:lnTo>
                <a:lnTo>
                  <a:pt x="7040880" y="237744"/>
                </a:lnTo>
                <a:lnTo>
                  <a:pt x="0" y="237744"/>
                </a:lnTo>
                <a:close/>
              </a:path>
            </a:pathLst>
          </a:custGeom>
          <a:solidFill>
            <a:srgbClr val="4F7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5320" y="6419088"/>
            <a:ext cx="548640" cy="256032"/>
          </a:xfrm>
          <a:prstGeom prst="rect">
            <a:avLst/>
          </a:prstGeom>
          <a:noFill/>
        </p:spPr>
        <p:txBody>
          <a:bodyPr wrap="square" lIns="0" rIns="0" tIns="0" bIns="0">
            <a:noAutofit/>
          </a:bodyPr>
          <a:lstStyle/>
          <a:p>
            <a:pPr algn="r"/>
            <a:r>
              <a:rPr sz="1200" b="0" i="0" u="none">
                <a:solidFill>
                  <a:srgbClr val="000000"/>
                </a:solidFill>
                <a:latin typeface="Times New Roman"/>
              </a:rPr>
              <a:t>16</a:t>
            </a:r>
          </a:p>
        </p:txBody>
      </p:sp>
      <p:sp>
        <p:nvSpPr>
          <p:cNvPr id="7" name="TextBox 6"/>
          <p:cNvSpPr txBox="1"/>
          <p:nvPr/>
        </p:nvSpPr>
        <p:spPr>
          <a:xfrm>
            <a:off x="1188720" y="2514600"/>
            <a:ext cx="6766560" cy="1828800"/>
          </a:xfrm>
          <a:prstGeom prst="rect">
            <a:avLst/>
          </a:prstGeom>
          <a:noFill/>
        </p:spPr>
        <p:txBody>
          <a:bodyPr wrap="square" lIns="0" rIns="0" tIns="0" bIns="0">
            <a:noAutofit/>
          </a:bodyPr>
          <a:lstStyle/>
          <a:p>
            <a:pPr algn="ctr"/>
            <a:r>
              <a:rPr sz="5400" b="0" i="0" u="none">
                <a:solidFill>
                  <a:srgbClr val="000000"/>
                </a:solidFill>
                <a:latin typeface="Times New Roman"/>
              </a:rPr>
              <a:t>Thank You</a:t>
            </a:r>
          </a:p>
          <a:p>
            <a:pPr algn="ctr"/>
            <a:r>
              <a:rPr sz="1800" b="0" i="0" u="none">
                <a:solidFill>
                  <a:srgbClr val="000000"/>
                </a:solidFill>
                <a:latin typeface="Times New Roman"/>
              </a:rPr>
              <a:t/>
            </a:r>
          </a:p>
          <a:p>
            <a:pPr algn="ctr"/>
            <a:r>
              <a:rPr sz="2000" b="0" i="0" u="none">
                <a:solidFill>
                  <a:srgbClr val="002060"/>
                </a:solidFill>
                <a:latin typeface="Times New Roman"/>
              </a:rPr>
              <a:t>Questions are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