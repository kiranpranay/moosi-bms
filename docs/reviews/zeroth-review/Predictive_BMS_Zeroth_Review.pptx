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not one or the other. There is a circuit to build and there is</a:t>
            </a:r>
          </a:p>
          <a:p>
            <a:r>
              <a:t>firmware to write for it, and neither works without the other. The hardware side</a:t>
            </a:r>
          </a:p>
          <a:p>
            <a:r>
              <a:t>is the pack, the sensing, the protection MOSFETs and the enclosure. The software</a:t>
            </a:r>
          </a:p>
          <a:p>
            <a:r>
              <a:t>side is the firmware on the ESP32 and the dashboard page. The firmware is</a:t>
            </a:r>
          </a:p>
          <a:p>
            <a:r>
              <a:t>written in C++ on ESP-IDF, which is the framework Espressif supply for the</a:t>
            </a:r>
          </a:p>
          <a:p>
            <a:r>
              <a:t>ESP32, and it uses FreeRTOS underneath to keep the sensor, safety and telemetry</a:t>
            </a:r>
          </a:p>
          <a:p>
            <a:r>
              <a:t>work in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and is where the one</a:t>
            </a:r>
          </a:p>
          <a:p>
            <a:r>
              <a:t>degree per second figure comes from. The last is the standard my design is aimed</a:t>
            </a:r>
          </a:p>
          <a:p>
            <a:r>
              <a:t>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____________</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Rupesh</a:t>
            </a:r>
          </a:p>
          <a:p>
            <a:r>
              <a:rPr sz="1800" b="0" i="0" u="none">
                <a:solidFill>
                  <a:srgbClr val="000000"/>
                </a:solidFill>
                <a:latin typeface="Times New Roman"/>
              </a:rPr>
              <a:t>Department of EEE</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Implementation and Tools</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and Tools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sp>
        <p:nvSpPr>
          <p:cNvPr id="7" name="TextBox 6"/>
          <p:cNvSpPr txBox="1"/>
          <p:nvPr/>
        </p:nvSpPr>
        <p:spPr>
          <a:xfrm>
            <a:off x="1168603" y="1316736"/>
            <a:ext cx="10195560" cy="420624"/>
          </a:xfrm>
          <a:prstGeom prst="rect">
            <a:avLst/>
          </a:prstGeom>
          <a:noFill/>
        </p:spPr>
        <p:txBody>
          <a:bodyPr wrap="square" lIns="0" rIns="0" tIns="0" bIns="0">
            <a:noAutofit/>
          </a:bodyPr>
          <a:lstStyle/>
          <a:p>
            <a:pPr algn="ctr"/>
            <a:r>
              <a:rPr sz="1800" b="1" i="0" u="none">
                <a:solidFill>
                  <a:srgbClr val="000000"/>
                </a:solidFill>
                <a:latin typeface="Times New Roman"/>
              </a:rPr>
              <a:t>This project has a hardware part and a software part. Both are built here.</a:t>
            </a:r>
          </a:p>
        </p:txBody>
      </p:sp>
      <p:graphicFrame>
        <p:nvGraphicFramePr>
          <p:cNvPr id="8" name="Table 7"/>
          <p:cNvGraphicFramePr>
            <a:graphicFrameLocks noGrp="1"/>
          </p:cNvGraphicFramePr>
          <p:nvPr/>
        </p:nvGraphicFramePr>
        <p:xfrm>
          <a:off x="975207" y="1956816"/>
          <a:ext cx="10241280" cy="4187952"/>
        </p:xfrm>
        <a:graphic>
          <a:graphicData uri="http://schemas.openxmlformats.org/drawingml/2006/table">
            <a:tbl>
              <a:tblPr firstRow="1">
                <a:tableStyleId>{5C22544A-7EE6-4342-B048-85BDC9FD1C3A}</a:tableStyleId>
              </a:tblPr>
              <a:tblGrid>
                <a:gridCol w="1737360"/>
                <a:gridCol w="2926080"/>
                <a:gridCol w="5577840"/>
              </a:tblGrid>
              <a:tr h="418795">
                <a:tc>
                  <a:txBody>
                    <a:bodyPr/>
                    <a:lstStyle/>
                    <a:p>
                      <a:pPr algn="ctr"/>
                      <a:r>
                        <a:rPr sz="1500" b="1" i="0" u="none">
                          <a:solidFill>
                            <a:srgbClr val="FFFFFF"/>
                          </a:solidFill>
                          <a:latin typeface="Times New Roman"/>
                        </a:rPr>
                        <a:t>Side</a:t>
                      </a:r>
                    </a:p>
                  </a:txBody>
                  <a:tcPr anchor="ctr" marL="64008" marR="64008">
                    <a:solidFill>
                      <a:srgbClr val="002060"/>
                    </a:solidFill>
                  </a:tcPr>
                </a:tc>
                <a:tc>
                  <a:txBody>
                    <a:bodyPr/>
                    <a:lstStyle/>
                    <a:p>
                      <a:pPr algn="ctr"/>
                      <a:r>
                        <a:rPr sz="1500" b="1" i="0" u="none">
                          <a:solidFill>
                            <a:srgbClr val="FFFFFF"/>
                          </a:solidFill>
                          <a:latin typeface="Times New Roman"/>
                        </a:rPr>
                        <a:t>Tool</a:t>
                      </a:r>
                    </a:p>
                  </a:txBody>
                  <a:tcPr anchor="ctr" marL="64008" marR="64008">
                    <a:solidFill>
                      <a:srgbClr val="002060"/>
                    </a:solidFill>
                  </a:tcPr>
                </a:tc>
                <a:tc>
                  <a:txBody>
                    <a:bodyPr/>
                    <a:lstStyle/>
                    <a:p>
                      <a:pPr algn="ctr"/>
                      <a:r>
                        <a:rPr sz="1500" b="1" i="0" u="none">
                          <a:solidFill>
                            <a:srgbClr val="FFFFFF"/>
                          </a:solidFill>
                          <a:latin typeface="Times New Roman"/>
                        </a:rPr>
                        <a:t>What it is used for</a:t>
                      </a:r>
                    </a:p>
                  </a:txBody>
                  <a:tcPr anchor="ctr" marL="64008" marR="64008">
                    <a:solidFill>
                      <a:srgbClr val="002060"/>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Siemens NX</a:t>
                      </a:r>
                    </a:p>
                  </a:txBody>
                  <a:tcPr anchor="ctr" marL="64008" marR="64008" marT="27432" marB="27432">
                    <a:solidFill>
                      <a:srgbClr val="FFFFFF"/>
                    </a:solidFill>
                  </a:tcPr>
                </a:tc>
                <a:tc>
                  <a:txBody>
                    <a:bodyPr/>
                    <a:lstStyle/>
                    <a:p>
                      <a:pPr algn="l"/>
                      <a:r>
                        <a:rPr sz="1500" b="0" i="0" u="none">
                          <a:solidFill>
                            <a:srgbClr val="000000"/>
                          </a:solidFill>
                          <a:latin typeface="Times New Roman"/>
                        </a:rPr>
                        <a:t>Modelling the enclosure</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3D printer, PLA+</a:t>
                      </a:r>
                    </a:p>
                  </a:txBody>
                  <a:tcPr anchor="ctr" marL="64008" marR="64008" marT="27432" marB="27432">
                    <a:solidFill>
                      <a:srgbClr val="EDEDED"/>
                    </a:solidFill>
                  </a:tcPr>
                </a:tc>
                <a:tc>
                  <a:txBody>
                    <a:bodyPr/>
                    <a:lstStyle/>
                    <a:p>
                      <a:pPr algn="l"/>
                      <a:r>
                        <a:rPr sz="1500" b="0" i="0" u="none">
                          <a:solidFill>
                            <a:srgbClr val="000000"/>
                          </a:solidFill>
                          <a:latin typeface="Times New Roman"/>
                        </a:rPr>
                        <a:t>Printing the enclosure</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Soldering station</a:t>
                      </a:r>
                    </a:p>
                  </a:txBody>
                  <a:tcPr anchor="ctr" marL="64008" marR="64008" marT="27432" marB="27432">
                    <a:solidFill>
                      <a:srgbClr val="FFFFFF"/>
                    </a:solidFill>
                  </a:tcPr>
                </a:tc>
                <a:tc>
                  <a:txBody>
                    <a:bodyPr/>
                    <a:lstStyle/>
                    <a:p>
                      <a:pPr algn="l"/>
                      <a:r>
                        <a:rPr sz="1500" b="0" i="0" u="none">
                          <a:solidFill>
                            <a:srgbClr val="000000"/>
                          </a:solidFill>
                          <a:latin typeface="Times New Roman"/>
                        </a:rPr>
                        <a:t>Building the board, perfboard first, then a soldered PCB</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Multimeter, bench supply</a:t>
                      </a:r>
                    </a:p>
                  </a:txBody>
                  <a:tcPr anchor="ctr" marL="64008" marR="64008" marT="27432" marB="27432">
                    <a:solidFill>
                      <a:srgbClr val="EDEDED"/>
                    </a:solidFill>
                  </a:tcPr>
                </a:tc>
                <a:tc>
                  <a:txBody>
                    <a:bodyPr/>
                    <a:lstStyle/>
                    <a:p>
                      <a:pPr algn="l"/>
                      <a:r>
                        <a:rPr sz="1500" b="0" i="0" u="none">
                          <a:solidFill>
                            <a:srgbClr val="000000"/>
                          </a:solidFill>
                          <a:latin typeface="Times New Roman"/>
                        </a:rPr>
                        <a:t>Measuring and testing the circuit</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ESP-IDF</a:t>
                      </a:r>
                    </a:p>
                  </a:txBody>
                  <a:tcPr anchor="ctr" marL="64008" marR="64008" marT="27432" marB="27432">
                    <a:solidFill>
                      <a:srgbClr val="FFFFFF"/>
                    </a:solidFill>
                  </a:tcPr>
                </a:tc>
                <a:tc>
                  <a:txBody>
                    <a:bodyPr/>
                    <a:lstStyle/>
                    <a:p>
                      <a:pPr algn="l"/>
                      <a:r>
                        <a:rPr sz="1500" b="0" i="0" u="none">
                          <a:solidFill>
                            <a:srgbClr val="000000"/>
                          </a:solidFill>
                          <a:latin typeface="Times New Roman"/>
                        </a:rPr>
                        <a:t>The framework the firmware is built on</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C++</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language the firmware is written in</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FreeRTOS</a:t>
                      </a:r>
                    </a:p>
                  </a:txBody>
                  <a:tcPr anchor="ctr" marL="64008" marR="64008" marT="27432" marB="27432">
                    <a:solidFill>
                      <a:srgbClr val="FFFFFF"/>
                    </a:solidFill>
                  </a:tcPr>
                </a:tc>
                <a:tc>
                  <a:txBody>
                    <a:bodyPr/>
                    <a:lstStyle/>
                    <a:p>
                      <a:pPr algn="l"/>
                      <a:r>
                        <a:rPr sz="1500" b="0" i="0" u="none">
                          <a:solidFill>
                            <a:srgbClr val="000000"/>
                          </a:solidFill>
                          <a:latin typeface="Times New Roman"/>
                        </a:rPr>
                        <a:t>Running the sensor, safety and telemetry tasks</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HTML, CSS, JavaScript</a:t>
                      </a:r>
                    </a:p>
                  </a:txBody>
                  <a:tcPr anchor="ctr" marL="64008" marR="64008" marT="27432" marB="27432">
                    <a:solidFill>
                      <a:srgbClr val="EDEDED"/>
                    </a:solidFill>
                  </a:tcPr>
                </a:tc>
                <a:tc>
                  <a:txBody>
                    <a:bodyPr/>
                    <a:lstStyle/>
                    <a:p>
                      <a:pPr algn="l"/>
                      <a:r>
                        <a:rPr sz="1500" b="0" i="0" u="none">
                          <a:solidFill>
                            <a:srgbClr val="000000"/>
                          </a:solidFill>
                          <a:latin typeface="Times New Roman"/>
                        </a:rPr>
                        <a:t>The dashboard page in the browser</a:t>
                      </a:r>
                    </a:p>
                  </a:txBody>
                  <a:tcPr anchor="ctr" marL="64008" marR="64008" marT="27432" marB="27432">
                    <a:solidFill>
                      <a:srgbClr val="EDEDED"/>
                    </a:solidFill>
                  </a:tcPr>
                </a:tc>
              </a:tr>
              <a:tr h="418797">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Git and GitHub</a:t>
                      </a:r>
                    </a:p>
                  </a:txBody>
                  <a:tcPr anchor="ctr" marL="64008" marR="64008" marT="27432" marB="27432">
                    <a:solidFill>
                      <a:srgbClr val="FFFFFF"/>
                    </a:solidFill>
                  </a:tcPr>
                </a:tc>
                <a:tc>
                  <a:txBody>
                    <a:bodyPr/>
                    <a:lstStyle/>
                    <a:p>
                      <a:pPr algn="l"/>
                      <a:r>
                        <a:rPr sz="1500" b="0" i="0" u="none">
                          <a:solidFill>
                            <a:srgbClr val="000000"/>
                          </a:solidFill>
                          <a:latin typeface="Times New Roman"/>
                        </a:rPr>
                        <a:t>Keeping the code and the documents</a:t>
                      </a:r>
                    </a:p>
                  </a:txBody>
                  <a:tcPr anchor="ctr" marL="64008" marR="64008"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acts when the temperature rise reaches 1 °C per second.</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et al.,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