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Muskan Sulathana. My project is a battery management system</a:t>
            </a:r>
          </a:p>
          <a:p>
            <a:r>
              <a:t>for a small lithium-ion battery pack. The part that is new is that it watches</a:t>
            </a:r>
          </a:p>
          <a:p>
            <a:r>
              <a:t>how quickly the cells are heating up, and switches the pack off on that, instead</a:t>
            </a:r>
          </a:p>
          <a:p>
            <a:r>
              <a:t>of waiting for a fixed temperature. I will explain the problem, what I plan to</a:t>
            </a:r>
          </a:p>
          <a:p>
            <a:r>
              <a:t>build, and the papers I have read so far.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order I will follow. I will start with a short summary of the whole</a:t>
            </a:r>
          </a:p>
          <a:p>
            <a:r>
              <a:t>project, then the problem I am trying to solve and what I want to achieve. After</a:t>
            </a:r>
          </a:p>
          <a:p>
            <a:r>
              <a:t>that I will show the block diagram and the flowchart of how the system will</a:t>
            </a:r>
          </a:p>
          <a:p>
            <a:r>
              <a:t>work, and finish with the papers I have studied.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project in five lines. The first three explain why the usual</a:t>
            </a:r>
          </a:p>
          <a:p>
            <a:r>
              <a:t>approach is not good enough. The fourth is what I am building, and the fifth is</a:t>
            </a:r>
          </a:p>
          <a:p>
            <a:r>
              <a:t>how it is put together. The important word is rising. Every protection board</a:t>
            </a:r>
          </a:p>
          <a:p>
            <a:r>
              <a:t>measures temperature; what I am adding is the rate at which that temperature</a:t>
            </a:r>
          </a:p>
          <a:p>
            <a:r>
              <a:t>changes, because the rate turns dangerous long before the number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that a fixed limit is a late signal. It tells you a cell is hot;</a:t>
            </a:r>
          </a:p>
          <a:p>
            <a:r>
              <a:t>it never tells you a cell is becoming hot. My objective is written as one</a:t>
            </a:r>
          </a:p>
          <a:p>
            <a:r>
              <a:t>sentence on purpose, because the whole project is one idea: measure the rate of</a:t>
            </a:r>
          </a:p>
          <a:p>
            <a:r>
              <a:t>change, and act on it. Everything else in the system exists to make that</a:t>
            </a:r>
          </a:p>
          <a:p>
            <a:r>
              <a:t>measurement possible and to prove it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block diagram. The pack feeds the sensing stage, which</a:t>
            </a:r>
          </a:p>
          <a:p>
            <a:r>
              <a:t>reports voltage, current and temperature to the ESP32. The ESP32 decides whether</a:t>
            </a:r>
          </a:p>
          <a:p>
            <a:r>
              <a:t>to keep the MOSFETs closed, and sends the same readings out over Wi-Fi. On the</a:t>
            </a:r>
          </a:p>
          <a:p>
            <a:r>
              <a:t>right is what the software does, in a loop. It reads the sensors, works out how</a:t>
            </a:r>
          </a:p>
          <a:p>
            <a:r>
              <a:t>fast each cell is heating, and if the rise is too fast or any limit is crossed</a:t>
            </a:r>
          </a:p>
          <a:p>
            <a:r>
              <a:t>it cuts off charging and discharging. If everything is fine it sends the</a:t>
            </a:r>
          </a:p>
          <a:p>
            <a:r>
              <a:t>readings to the dashboard and starts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main parts. The pack is four 18650 cells in series. Around it sit</a:t>
            </a:r>
          </a:p>
          <a:p>
            <a:r>
              <a:t>the things that watch it: four thermistors for temperature, a resistor divider</a:t>
            </a:r>
          </a:p>
          <a:p>
            <a:r>
              <a:t>on each cell for voltage, and one current sensor for the whole pack. The</a:t>
            </a:r>
          </a:p>
          <a:p>
            <a:r>
              <a:t>multiplexer is there because the ESP32 does not have enough analogue pins for</a:t>
            </a:r>
          </a:p>
          <a:p>
            <a:r>
              <a:t>four thermistors as well as four cell taps, so one pin reads all four in turn.</a:t>
            </a:r>
          </a:p>
          <a:p>
            <a:r>
              <a:t>The MOSFETs are the switches that actually stop the current. The fuse is there</a:t>
            </a:r>
          </a:p>
          <a:p>
            <a:r>
              <a:t>in case everything else fails. I have priced all of these and the full list with</a:t>
            </a:r>
          </a:p>
          <a:p>
            <a:r>
              <a:t>costs will come in the next review.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is not one or the other. There is a circuit to build and there is</a:t>
            </a:r>
          </a:p>
          <a:p>
            <a:r>
              <a:t>firmware to write for it, and neither works without the other. The hardware side</a:t>
            </a:r>
          </a:p>
          <a:p>
            <a:r>
              <a:t>is the pack, the sensing, the protection MOSFETs and the enclosure. The software</a:t>
            </a:r>
          </a:p>
          <a:p>
            <a:r>
              <a:t>side is the firmware on the ESP32 and the dashboard page. The firmware is</a:t>
            </a:r>
          </a:p>
          <a:p>
            <a:r>
              <a:t>written in C++ on ESP-IDF, which is the framework Espressif supply for the</a:t>
            </a:r>
          </a:p>
          <a:p>
            <a:r>
              <a:t>ESP32, and it uses FreeRTOS underneath to keep the sensor, safety and telemetry</a:t>
            </a:r>
          </a:p>
          <a:p>
            <a:r>
              <a:t>work in separate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sources shaped the project. The first explains the physics: the heat</a:t>
            </a:r>
          </a:p>
          <a:p>
            <a:r>
              <a:t>inside a cell feeds more reaction, which makes more heat, so the temperature</a:t>
            </a:r>
          </a:p>
          <a:p>
            <a:r>
              <a:t>curve bends upward sharply. The second and fourth show that early warning is a</a:t>
            </a:r>
          </a:p>
          <a:p>
            <a:r>
              <a:t>known open problem. The third is the closest work to mine: it gives an early</a:t>
            </a:r>
          </a:p>
          <a:p>
            <a:r>
              <a:t>warning, but it needs training data and fitted models. The last is the standard</a:t>
            </a:r>
          </a:p>
          <a:p>
            <a:r>
              <a:t>my design is aimed at, although I am not claiming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sources, numbered in the same order as the survey table on</a:t>
            </a:r>
          </a:p>
          <a:p>
            <a:r>
              <a:t>the previous slide. The first four are papers and reviews. The fifth is the</a:t>
            </a:r>
          </a:p>
          <a:p>
            <a:r>
              <a:t>Indian standard for sealed lithium cells, which sets out the abuse tests a pack</a:t>
            </a:r>
          </a:p>
          <a:p>
            <a:r>
              <a:t>of this kind is expected to survive.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of my presentation. Thank you for listening. I am happy to take</a:t>
            </a:r>
          </a:p>
          <a:p>
            <a:r>
              <a:t>questions on the circuit, the choice of threshold, or the schedule.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4" name="TextBox 3"/>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5" name="TextBox 4"/>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1</a:t>
            </a:r>
          </a:p>
        </p:txBody>
      </p:sp>
      <p:sp>
        <p:nvSpPr>
          <p:cNvPr id="6" name="TextBox 5"/>
          <p:cNvSpPr txBox="1"/>
          <p:nvPr/>
        </p:nvSpPr>
        <p:spPr>
          <a:xfrm>
            <a:off x="1188720" y="758952"/>
            <a:ext cx="9814255" cy="822960"/>
          </a:xfrm>
          <a:prstGeom prst="rect">
            <a:avLst/>
          </a:prstGeom>
          <a:noFill/>
        </p:spPr>
        <p:txBody>
          <a:bodyPr wrap="square" lIns="0" rIns="0" tIns="0" bIns="0">
            <a:noAutofit/>
          </a:bodyPr>
          <a:lstStyle/>
          <a:p>
            <a:pPr algn="ctr"/>
            <a:r>
              <a:rPr sz="1800" b="1" i="0" u="none">
                <a:solidFill>
                  <a:srgbClr val="002060"/>
                </a:solidFill>
                <a:latin typeface="Times New Roman"/>
              </a:rPr>
              <a:t>Major Project Stage-1 Zeroth Review Presentation</a:t>
            </a:r>
          </a:p>
          <a:p>
            <a:pPr algn="ctr"/>
            <a:r>
              <a:rPr sz="1800" b="1" i="0" u="none">
                <a:solidFill>
                  <a:srgbClr val="002060"/>
                </a:solidFill>
                <a:latin typeface="Times New Roman"/>
              </a:rPr>
              <a:t>on</a:t>
            </a:r>
          </a:p>
        </p:txBody>
      </p:sp>
      <p:sp>
        <p:nvSpPr>
          <p:cNvPr id="7" name="TextBox 6"/>
          <p:cNvSpPr txBox="1"/>
          <p:nvPr/>
        </p:nvSpPr>
        <p:spPr>
          <a:xfrm>
            <a:off x="822960" y="1536192"/>
            <a:ext cx="10545775" cy="1188720"/>
          </a:xfrm>
          <a:prstGeom prst="rect">
            <a:avLst/>
          </a:prstGeom>
          <a:noFill/>
        </p:spPr>
        <p:txBody>
          <a:bodyPr wrap="square" lIns="0" rIns="0" tIns="0" bIns="0">
            <a:noAutofit/>
          </a:bodyPr>
          <a:lstStyle/>
          <a:p>
            <a:pPr algn="ctr"/>
            <a:r>
              <a:rPr sz="2800" b="1" i="0" u="none">
                <a:solidFill>
                  <a:srgbClr val="000000"/>
                </a:solidFill>
                <a:latin typeface="Times New Roman"/>
              </a:rPr>
              <a:t>Predictive Thermal Battery Management System</a:t>
            </a:r>
          </a:p>
          <a:p>
            <a:pPr algn="ctr"/>
            <a:r>
              <a:rPr sz="2800" b="1" i="0" u="none">
                <a:solidFill>
                  <a:srgbClr val="000000"/>
                </a:solidFill>
                <a:latin typeface="Times New Roman"/>
              </a:rPr>
              <a:t>for Li-ion Battery Packs</a:t>
            </a:r>
          </a:p>
        </p:txBody>
      </p:sp>
      <p:sp>
        <p:nvSpPr>
          <p:cNvPr id="8" name="TextBox 7"/>
          <p:cNvSpPr txBox="1"/>
          <p:nvPr/>
        </p:nvSpPr>
        <p:spPr>
          <a:xfrm>
            <a:off x="1508760" y="3401568"/>
            <a:ext cx="4572000" cy="2194560"/>
          </a:xfrm>
          <a:prstGeom prst="rect">
            <a:avLst/>
          </a:prstGeom>
          <a:noFill/>
        </p:spPr>
        <p:txBody>
          <a:bodyPr wrap="square" lIns="0" rIns="0" tIns="0" bIns="0">
            <a:noAutofit/>
          </a:bodyPr>
          <a:lstStyle/>
          <a:p>
            <a:r>
              <a:rPr sz="1800" b="1" i="0" u="none">
                <a:solidFill>
                  <a:srgbClr val="000000"/>
                </a:solidFill>
                <a:latin typeface="Times New Roman"/>
              </a:rPr>
              <a:t>Presented by</a:t>
            </a:r>
          </a:p>
          <a:p>
            <a:r>
              <a:rPr sz="1800" b="0" i="0" u="none">
                <a:solidFill>
                  <a:srgbClr val="000000"/>
                </a:solidFill>
                <a:latin typeface="Times New Roman"/>
              </a:rPr>
              <a:t/>
            </a:r>
          </a:p>
          <a:p>
            <a:r>
              <a:rPr sz="1800" b="0" i="0" u="none">
                <a:solidFill>
                  <a:srgbClr val="000000"/>
                </a:solidFill>
                <a:latin typeface="Times New Roman"/>
              </a:rPr>
              <a:t>Ms. Muskan Sulathana</a:t>
            </a:r>
          </a:p>
          <a:p>
            <a:r>
              <a:rPr sz="1800" b="0" i="0" u="none">
                <a:solidFill>
                  <a:srgbClr val="000000"/>
                </a:solidFill>
                <a:latin typeface="Times New Roman"/>
              </a:rPr>
              <a:t>Roll No.  :  ____________</a:t>
            </a:r>
          </a:p>
        </p:txBody>
      </p:sp>
      <p:sp>
        <p:nvSpPr>
          <p:cNvPr id="9" name="TextBox 8"/>
          <p:cNvSpPr txBox="1"/>
          <p:nvPr/>
        </p:nvSpPr>
        <p:spPr>
          <a:xfrm>
            <a:off x="6492240" y="3401568"/>
            <a:ext cx="4937760" cy="2194560"/>
          </a:xfrm>
          <a:prstGeom prst="rect">
            <a:avLst/>
          </a:prstGeom>
          <a:noFill/>
        </p:spPr>
        <p:txBody>
          <a:bodyPr wrap="square" lIns="0" rIns="0" tIns="0" bIns="0">
            <a:noAutofit/>
          </a:bodyPr>
          <a:lstStyle/>
          <a:p>
            <a:r>
              <a:rPr sz="1800" b="1" i="0" u="none">
                <a:solidFill>
                  <a:srgbClr val="000000"/>
                </a:solidFill>
                <a:latin typeface="Times New Roman"/>
              </a:rPr>
              <a:t>Guide</a:t>
            </a:r>
          </a:p>
          <a:p>
            <a:r>
              <a:rPr sz="1800" b="0" i="0" u="none">
                <a:solidFill>
                  <a:srgbClr val="000000"/>
                </a:solidFill>
                <a:latin typeface="Times New Roman"/>
              </a:rPr>
              <a:t/>
            </a:r>
          </a:p>
          <a:p>
            <a:r>
              <a:rPr sz="1800" b="0" i="0" u="none">
                <a:solidFill>
                  <a:srgbClr val="000000"/>
                </a:solidFill>
                <a:latin typeface="Times New Roman"/>
              </a:rPr>
              <a:t>Rupesh</a:t>
            </a:r>
          </a:p>
          <a:p>
            <a:r>
              <a:rPr sz="1800" b="0" i="0" u="none">
                <a:solidFill>
                  <a:srgbClr val="000000"/>
                </a:solidFill>
                <a:latin typeface="Times New Roman"/>
              </a:rPr>
              <a:t>Department of EEE</a:t>
            </a:r>
          </a:p>
          <a:p>
            <a:r>
              <a:rPr sz="1800" b="0" i="0" u="none">
                <a:solidFill>
                  <a:srgbClr val="000000"/>
                </a:solidFill>
                <a:latin typeface="Times New Roman"/>
              </a:rPr>
              <a:t>BVRIT HYDERABAD College of Engineering</a:t>
            </a:r>
          </a:p>
          <a:p>
            <a:r>
              <a:rPr sz="1800" b="0" i="0" u="none">
                <a:solidFill>
                  <a:srgbClr val="000000"/>
                </a:solidFill>
                <a:latin typeface="Times New Roman"/>
              </a:rPr>
              <a:t>for Women, Hyderabad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Contents</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2</a:t>
            </a:r>
          </a:p>
        </p:txBody>
      </p:sp>
      <p:sp>
        <p:nvSpPr>
          <p:cNvPr id="7" name="TextBox 6"/>
          <p:cNvSpPr txBox="1"/>
          <p:nvPr/>
        </p:nvSpPr>
        <p:spPr>
          <a:xfrm>
            <a:off x="1168603" y="1389888"/>
            <a:ext cx="10195560" cy="4754879"/>
          </a:xfrm>
          <a:prstGeom prst="rect">
            <a:avLst/>
          </a:prstGeom>
          <a:noFill/>
        </p:spPr>
        <p:txBody>
          <a:bodyPr wrap="square" lIns="0" rIns="0" tIns="0" bIns="0">
            <a:noAutofit/>
          </a:bodyPr>
          <a:lstStyle/>
          <a:p>
            <a:pPr marL="384048" indent="-384048">
              <a:lnSpc>
                <a:spcPct val="110000"/>
              </a:lnSpc>
              <a:spcAft>
                <a:spcPts val="1300"/>
              </a:spcAft>
              <a:buNone/>
            </a:pPr>
            <a:r>
              <a:rPr sz="1800" b="0" i="0" u="none">
                <a:solidFill>
                  <a:srgbClr val="000000"/>
                </a:solidFill>
                <a:latin typeface="Times New Roman"/>
              </a:rPr>
              <a:t>1.  </a:t>
            </a:r>
            <a:r>
              <a:rPr sz="1800" b="0" i="0" u="none">
                <a:solidFill>
                  <a:srgbClr val="000000"/>
                </a:solidFill>
                <a:latin typeface="Times New Roman"/>
              </a:rPr>
              <a:t>Abstract</a:t>
            </a:r>
          </a:p>
          <a:p>
            <a:pPr marL="384048" indent="-384048">
              <a:lnSpc>
                <a:spcPct val="110000"/>
              </a:lnSpc>
              <a:spcAft>
                <a:spcPts val="1300"/>
              </a:spcAft>
              <a:buNone/>
            </a:pPr>
            <a:r>
              <a:rPr sz="1800" b="0" i="0" u="none">
                <a:solidFill>
                  <a:srgbClr val="000000"/>
                </a:solidFill>
                <a:latin typeface="Times New Roman"/>
              </a:rPr>
              <a:t>2.  </a:t>
            </a:r>
            <a:r>
              <a:rPr sz="1800" b="0" i="0" u="none">
                <a:solidFill>
                  <a:srgbClr val="000000"/>
                </a:solidFill>
                <a:latin typeface="Times New Roman"/>
              </a:rPr>
              <a:t>Problem Statement</a:t>
            </a:r>
          </a:p>
          <a:p>
            <a:pPr marL="384048" indent="-384048">
              <a:lnSpc>
                <a:spcPct val="110000"/>
              </a:lnSpc>
              <a:spcAft>
                <a:spcPts val="1300"/>
              </a:spcAft>
              <a:buNone/>
            </a:pPr>
            <a:r>
              <a:rPr sz="1800" b="0" i="0" u="none">
                <a:solidFill>
                  <a:srgbClr val="000000"/>
                </a:solidFill>
                <a:latin typeface="Times New Roman"/>
              </a:rPr>
              <a:t>3.  </a:t>
            </a:r>
            <a:r>
              <a:rPr sz="1800" b="0" i="0" u="none">
                <a:solidFill>
                  <a:srgbClr val="000000"/>
                </a:solidFill>
                <a:latin typeface="Times New Roman"/>
              </a:rPr>
              <a:t>Objective</a:t>
            </a:r>
          </a:p>
          <a:p>
            <a:pPr marL="384048" indent="-384048">
              <a:lnSpc>
                <a:spcPct val="110000"/>
              </a:lnSpc>
              <a:spcAft>
                <a:spcPts val="1300"/>
              </a:spcAft>
              <a:buNone/>
            </a:pPr>
            <a:r>
              <a:rPr sz="1800" b="0" i="0" u="none">
                <a:solidFill>
                  <a:srgbClr val="000000"/>
                </a:solidFill>
                <a:latin typeface="Times New Roman"/>
              </a:rPr>
              <a:t>4.  </a:t>
            </a:r>
            <a:r>
              <a:rPr sz="1800" b="0" i="0" u="none">
                <a:solidFill>
                  <a:srgbClr val="000000"/>
                </a:solidFill>
                <a:latin typeface="Times New Roman"/>
              </a:rPr>
              <a:t>Implementation Outline (Block Diagram / Flowchart)</a:t>
            </a:r>
          </a:p>
          <a:p>
            <a:pPr marL="384048" indent="-384048">
              <a:lnSpc>
                <a:spcPct val="110000"/>
              </a:lnSpc>
              <a:spcAft>
                <a:spcPts val="1300"/>
              </a:spcAft>
              <a:buNone/>
            </a:pPr>
            <a:r>
              <a:rPr sz="1800" b="0" i="0" u="none">
                <a:solidFill>
                  <a:srgbClr val="000000"/>
                </a:solidFill>
                <a:latin typeface="Times New Roman"/>
              </a:rPr>
              <a:t>5.  </a:t>
            </a:r>
            <a:r>
              <a:rPr sz="1800" b="0" i="0" u="none">
                <a:solidFill>
                  <a:srgbClr val="000000"/>
                </a:solidFill>
                <a:latin typeface="Times New Roman"/>
              </a:rPr>
              <a:t>Components</a:t>
            </a:r>
          </a:p>
          <a:p>
            <a:pPr marL="384048" indent="-384048">
              <a:lnSpc>
                <a:spcPct val="110000"/>
              </a:lnSpc>
              <a:spcAft>
                <a:spcPts val="1300"/>
              </a:spcAft>
              <a:buNone/>
            </a:pPr>
            <a:r>
              <a:rPr sz="1800" b="0" i="0" u="none">
                <a:solidFill>
                  <a:srgbClr val="000000"/>
                </a:solidFill>
                <a:latin typeface="Times New Roman"/>
              </a:rPr>
              <a:t>6.  </a:t>
            </a:r>
            <a:r>
              <a:rPr sz="1800" b="0" i="0" u="none">
                <a:solidFill>
                  <a:srgbClr val="000000"/>
                </a:solidFill>
                <a:latin typeface="Times New Roman"/>
              </a:rPr>
              <a:t>Implementation and Tools</a:t>
            </a:r>
          </a:p>
          <a:p>
            <a:pPr marL="384048" indent="-384048">
              <a:lnSpc>
                <a:spcPct val="110000"/>
              </a:lnSpc>
              <a:spcAft>
                <a:spcPts val="1300"/>
              </a:spcAft>
              <a:buNone/>
            </a:pPr>
            <a:r>
              <a:rPr sz="1800" b="0" i="0" u="none">
                <a:solidFill>
                  <a:srgbClr val="000000"/>
                </a:solidFill>
                <a:latin typeface="Times New Roman"/>
              </a:rPr>
              <a:t>7.  </a:t>
            </a:r>
            <a:r>
              <a:rPr sz="1800" b="0" i="0" u="none">
                <a:solidFill>
                  <a:srgbClr val="000000"/>
                </a:solidFill>
                <a:latin typeface="Times New Roman"/>
              </a:rPr>
              <a:t>Literature Survey</a:t>
            </a:r>
          </a:p>
          <a:p>
            <a:pPr marL="384048" indent="-384048">
              <a:lnSpc>
                <a:spcPct val="110000"/>
              </a:lnSpc>
              <a:spcAft>
                <a:spcPts val="1300"/>
              </a:spcAft>
              <a:buNone/>
            </a:pPr>
            <a:r>
              <a:rPr sz="1800" b="0" i="0" u="none">
                <a:solidFill>
                  <a:srgbClr val="000000"/>
                </a:solidFill>
                <a:latin typeface="Times New Roman"/>
              </a:rPr>
              <a:t>8.  </a:t>
            </a:r>
            <a:r>
              <a:rPr sz="1800" b="0" i="0" u="none">
                <a:solidFill>
                  <a:srgbClr val="000000"/>
                </a:solidFill>
                <a:latin typeface="Times New Roman"/>
              </a:rPr>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Abstract</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3</a:t>
            </a:r>
          </a:p>
        </p:txBody>
      </p:sp>
      <p:sp>
        <p:nvSpPr>
          <p:cNvPr id="7" name="TextBox 6"/>
          <p:cNvSpPr txBox="1"/>
          <p:nvPr/>
        </p:nvSpPr>
        <p:spPr>
          <a:xfrm>
            <a:off x="1168603" y="1389888"/>
            <a:ext cx="10195560" cy="4754879"/>
          </a:xfrm>
          <a:prstGeom prst="rect">
            <a:avLst/>
          </a:prstGeom>
          <a:noFill/>
        </p:spPr>
        <p:txBody>
          <a:bodyPr wrap="square" lIns="0" rIns="0" tIns="0" bIns="0">
            <a:noAutofit/>
          </a:bodyPr>
          <a:lstStyle/>
          <a:p>
            <a:pPr marL="283464" indent="-283464">
              <a:lnSpc>
                <a:spcPct val="110000"/>
              </a:lnSpc>
              <a:spcAft>
                <a:spcPts val="2000"/>
              </a:spcAft>
              <a:buFont typeface="Arial"/>
              <a:buChar char="•"/>
            </a:pPr>
            <a:r>
              <a:rPr sz="1700" b="0" i="0" u="none">
                <a:solidFill>
                  <a:srgbClr val="000000"/>
                </a:solidFill>
                <a:latin typeface="Times New Roman"/>
              </a:rPr>
              <a:t>Lithium-ion cells are used in phones, laptops and electric vehicles, and they can catch fire if they are allowed to get too hot.</a:t>
            </a:r>
          </a:p>
          <a:p>
            <a:pPr marL="283464" indent="-283464">
              <a:lnSpc>
                <a:spcPct val="110000"/>
              </a:lnSpc>
              <a:spcAft>
                <a:spcPts val="2000"/>
              </a:spcAft>
              <a:buFont typeface="Arial"/>
              <a:buChar char="•"/>
            </a:pPr>
            <a:r>
              <a:rPr sz="1700" b="0" i="0" u="none">
                <a:solidFill>
                  <a:srgbClr val="000000"/>
                </a:solidFill>
                <a:latin typeface="Times New Roman"/>
              </a:rPr>
              <a:t>Most small protection boards switch the pack off only after the temperature crosses a fixed value, usually about 60 °C.</a:t>
            </a:r>
          </a:p>
          <a:p>
            <a:pPr marL="283464" indent="-283464">
              <a:lnSpc>
                <a:spcPct val="110000"/>
              </a:lnSpc>
              <a:spcAft>
                <a:spcPts val="2000"/>
              </a:spcAft>
              <a:buFont typeface="Arial"/>
              <a:buChar char="•"/>
            </a:pPr>
            <a:r>
              <a:rPr sz="1700" b="0" i="0" u="none">
                <a:solidFill>
                  <a:srgbClr val="000000"/>
                </a:solidFill>
                <a:latin typeface="Times New Roman"/>
              </a:rPr>
              <a:t>By the time a cell reaches that value it is often already heating itself, and that heat then causes still more heating.</a:t>
            </a:r>
          </a:p>
          <a:p>
            <a:pPr marL="283464" indent="-283464">
              <a:lnSpc>
                <a:spcPct val="110000"/>
              </a:lnSpc>
              <a:spcAft>
                <a:spcPts val="2000"/>
              </a:spcAft>
              <a:buFont typeface="Arial"/>
              <a:buChar char="•"/>
            </a:pPr>
            <a:r>
              <a:rPr sz="1700" b="0" i="0" u="none">
                <a:solidFill>
                  <a:srgbClr val="000000"/>
                </a:solidFill>
                <a:latin typeface="Times New Roman"/>
              </a:rPr>
              <a:t>This project builds a battery management system for a four-cell lithium-ion pack that watches how fast the temperature is rising, not only how high it has reached.</a:t>
            </a:r>
          </a:p>
          <a:p>
            <a:pPr marL="283464" indent="-283464">
              <a:lnSpc>
                <a:spcPct val="110000"/>
              </a:lnSpc>
              <a:spcAft>
                <a:spcPts val="2000"/>
              </a:spcAft>
              <a:buFont typeface="Arial"/>
              <a:buChar char="•"/>
            </a:pPr>
            <a:r>
              <a:rPr sz="1700" b="0" i="0" u="none">
                <a:solidFill>
                  <a:srgbClr val="000000"/>
                </a:solidFill>
                <a:latin typeface="Times New Roman"/>
              </a:rPr>
              <a:t>An ESP32 reads the cell voltages, the pack current and four cell temperatures, switches the pack off through MOSFETs when the rise is too fast, and sends every reading over Wi-Fi to a simple web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Problem Statement</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4</a:t>
            </a:r>
          </a:p>
        </p:txBody>
      </p:sp>
      <p:sp>
        <p:nvSpPr>
          <p:cNvPr id="7" name="TextBox 6"/>
          <p:cNvSpPr txBox="1"/>
          <p:nvPr/>
        </p:nvSpPr>
        <p:spPr>
          <a:xfrm>
            <a:off x="1168603" y="1298448"/>
            <a:ext cx="10195560" cy="2331720"/>
          </a:xfrm>
          <a:prstGeom prst="rect">
            <a:avLst/>
          </a:prstGeom>
          <a:noFill/>
        </p:spPr>
        <p:txBody>
          <a:bodyPr wrap="square" lIns="0" rIns="0" tIns="0" bIns="0">
            <a:noAutofit/>
          </a:bodyPr>
          <a:lstStyle/>
          <a:p>
            <a:pPr marL="283464" indent="-283464">
              <a:lnSpc>
                <a:spcPct val="110000"/>
              </a:lnSpc>
              <a:spcAft>
                <a:spcPts val="1600"/>
              </a:spcAft>
              <a:buFont typeface="Arial"/>
              <a:buChar char="•"/>
            </a:pPr>
            <a:r>
              <a:rPr sz="1700" b="0" i="0" u="none">
                <a:solidFill>
                  <a:srgbClr val="000000"/>
                </a:solidFill>
                <a:latin typeface="Times New Roman"/>
              </a:rPr>
              <a:t>A fixed temperature limit only acts once the cell is already hot, and it gives no warning before that point.</a:t>
            </a:r>
          </a:p>
          <a:p>
            <a:pPr marL="283464" indent="-283464">
              <a:lnSpc>
                <a:spcPct val="110000"/>
              </a:lnSpc>
              <a:spcAft>
                <a:spcPts val="1600"/>
              </a:spcAft>
              <a:buFont typeface="Arial"/>
              <a:buChar char="•"/>
            </a:pPr>
            <a:r>
              <a:rPr sz="1700" b="0" i="0" u="none">
                <a:solidFill>
                  <a:srgbClr val="000000"/>
                </a:solidFill>
                <a:latin typeface="Times New Roman"/>
              </a:rPr>
              <a:t>A cell that is heating quickly at 35 °C is already faulty, but it passes a 60 °C test without any complaint.</a:t>
            </a:r>
          </a:p>
          <a:p>
            <a:pPr marL="283464" indent="-283464">
              <a:lnSpc>
                <a:spcPct val="110000"/>
              </a:lnSpc>
              <a:spcAft>
                <a:spcPts val="1600"/>
              </a:spcAft>
              <a:buFont typeface="Arial"/>
              <a:buChar char="•"/>
            </a:pPr>
            <a:r>
              <a:rPr sz="1700" b="0" i="0" u="none">
                <a:solidFill>
                  <a:srgbClr val="000000"/>
                </a:solidFill>
                <a:latin typeface="Times New Roman"/>
              </a:rPr>
              <a:t>The sensor sits on the outside of the cell, so the inside is always hotter than the reading suggests.</a:t>
            </a:r>
          </a:p>
        </p:txBody>
      </p:sp>
      <p:sp>
        <p:nvSpPr>
          <p:cNvPr id="8" name="TextBox 7"/>
          <p:cNvSpPr txBox="1"/>
          <p:nvPr/>
        </p:nvSpPr>
        <p:spPr>
          <a:xfrm>
            <a:off x="1188720" y="3813048"/>
            <a:ext cx="9814255" cy="502920"/>
          </a:xfrm>
          <a:prstGeom prst="rect">
            <a:avLst/>
          </a:prstGeom>
          <a:noFill/>
        </p:spPr>
        <p:txBody>
          <a:bodyPr wrap="square" lIns="0" rIns="0" tIns="0" bIns="0">
            <a:noAutofit/>
          </a:bodyPr>
          <a:lstStyle/>
          <a:p>
            <a:pPr algn="ctr"/>
            <a:r>
              <a:rPr sz="2400" b="1" i="0" u="sng">
                <a:solidFill>
                  <a:srgbClr val="000000"/>
                </a:solidFill>
                <a:latin typeface="Times New Roman"/>
              </a:rPr>
              <a:t>Objective</a:t>
            </a:r>
          </a:p>
        </p:txBody>
      </p:sp>
      <p:sp>
        <p:nvSpPr>
          <p:cNvPr id="9" name="TextBox 8"/>
          <p:cNvSpPr txBox="1"/>
          <p:nvPr/>
        </p:nvSpPr>
        <p:spPr>
          <a:xfrm>
            <a:off x="1168603" y="4526280"/>
            <a:ext cx="10195560" cy="1618487"/>
          </a:xfrm>
          <a:prstGeom prst="rect">
            <a:avLst/>
          </a:prstGeom>
          <a:noFill/>
        </p:spPr>
        <p:txBody>
          <a:bodyPr wrap="square" lIns="0" rIns="0" tIns="0" bIns="0">
            <a:noAutofit/>
          </a:bodyPr>
          <a:lstStyle/>
          <a:p>
            <a:pPr marL="283464" indent="-283464">
              <a:lnSpc>
                <a:spcPct val="110000"/>
              </a:lnSpc>
              <a:spcAft>
                <a:spcPts val="1600"/>
              </a:spcAft>
              <a:buFont typeface="Arial"/>
              <a:buChar char="•"/>
            </a:pPr>
            <a:r>
              <a:rPr sz="1700" b="0" i="0" u="none">
                <a:solidFill>
                  <a:srgbClr val="000000"/>
                </a:solidFill>
                <a:latin typeface="Times New Roman"/>
              </a:rPr>
              <a:t>To design and build a battery management system for a 4S lithium-ion pack that measures cell voltage, pack current and cell temperature, cuts off charging and discharging based on how fast the temperature is rising, and publishes every reading live over Wi-Fi.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Implementation Outline</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5</a:t>
            </a:r>
          </a:p>
        </p:txBody>
      </p:sp>
      <p:pic>
        <p:nvPicPr>
          <p:cNvPr id="7" name="Picture 6" descr="z1_block_diagram.png"/>
          <p:cNvPicPr>
            <a:picLocks noChangeAspect="1"/>
          </p:cNvPicPr>
          <p:nvPr/>
        </p:nvPicPr>
        <p:blipFill>
          <a:blip r:embed="rId3"/>
          <a:stretch>
            <a:fillRect/>
          </a:stretch>
        </p:blipFill>
        <p:spPr>
          <a:xfrm>
            <a:off x="1021393" y="1591056"/>
            <a:ext cx="4504316" cy="4160520"/>
          </a:xfrm>
          <a:prstGeom prst="rect">
            <a:avLst/>
          </a:prstGeom>
        </p:spPr>
      </p:pic>
      <p:sp>
        <p:nvSpPr>
          <p:cNvPr id="8" name="TextBox 7"/>
          <p:cNvSpPr txBox="1"/>
          <p:nvPr/>
        </p:nvSpPr>
        <p:spPr>
          <a:xfrm>
            <a:off x="658368" y="1243584"/>
            <a:ext cx="5230368" cy="310896"/>
          </a:xfrm>
          <a:prstGeom prst="rect">
            <a:avLst/>
          </a:prstGeom>
          <a:noFill/>
        </p:spPr>
        <p:txBody>
          <a:bodyPr wrap="square" lIns="0" rIns="0" tIns="0" bIns="0">
            <a:noAutofit/>
          </a:bodyPr>
          <a:lstStyle/>
          <a:p>
            <a:pPr algn="ctr"/>
            <a:r>
              <a:rPr sz="1600" b="1" i="0" u="none">
                <a:solidFill>
                  <a:srgbClr val="000000"/>
                </a:solidFill>
                <a:latin typeface="Times New Roman"/>
              </a:rPr>
              <a:t>Block diagram</a:t>
            </a:r>
          </a:p>
        </p:txBody>
      </p:sp>
      <p:pic>
        <p:nvPicPr>
          <p:cNvPr id="9" name="Picture 8" descr="z2_flowchart.png"/>
          <p:cNvPicPr>
            <a:picLocks noChangeAspect="1"/>
          </p:cNvPicPr>
          <p:nvPr/>
        </p:nvPicPr>
        <p:blipFill>
          <a:blip r:embed="rId4"/>
          <a:stretch>
            <a:fillRect/>
          </a:stretch>
        </p:blipFill>
        <p:spPr>
          <a:xfrm>
            <a:off x="6505852" y="1591056"/>
            <a:ext cx="4819094" cy="4160520"/>
          </a:xfrm>
          <a:prstGeom prst="rect">
            <a:avLst/>
          </a:prstGeom>
        </p:spPr>
      </p:pic>
      <p:sp>
        <p:nvSpPr>
          <p:cNvPr id="10" name="TextBox 9"/>
          <p:cNvSpPr txBox="1"/>
          <p:nvPr/>
        </p:nvSpPr>
        <p:spPr>
          <a:xfrm>
            <a:off x="6300216" y="1243584"/>
            <a:ext cx="5230368" cy="310896"/>
          </a:xfrm>
          <a:prstGeom prst="rect">
            <a:avLst/>
          </a:prstGeom>
          <a:noFill/>
        </p:spPr>
        <p:txBody>
          <a:bodyPr wrap="square" lIns="0" rIns="0" tIns="0" bIns="0">
            <a:noAutofit/>
          </a:bodyPr>
          <a:lstStyle/>
          <a:p>
            <a:pPr algn="ctr"/>
            <a:r>
              <a:rPr sz="1600" b="1" i="0" u="none">
                <a:solidFill>
                  <a:srgbClr val="000000"/>
                </a:solidFill>
                <a:latin typeface="Times New Roman"/>
              </a:rPr>
              <a:t>Firmware flowchart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Components</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6</a:t>
            </a:r>
          </a:p>
        </p:txBody>
      </p:sp>
      <p:graphicFrame>
        <p:nvGraphicFramePr>
          <p:cNvPr id="7" name="Table 6"/>
          <p:cNvGraphicFramePr>
            <a:graphicFrameLocks noGrp="1"/>
          </p:cNvGraphicFramePr>
          <p:nvPr/>
        </p:nvGraphicFramePr>
        <p:xfrm>
          <a:off x="998067" y="1389888"/>
          <a:ext cx="10195560" cy="4425696"/>
        </p:xfrm>
        <a:graphic>
          <a:graphicData uri="http://schemas.openxmlformats.org/drawingml/2006/table">
            <a:tbl>
              <a:tblPr firstRow="1">
                <a:tableStyleId>{5C22544A-7EE6-4342-B048-85BDC9FD1C3A}</a:tableStyleId>
              </a:tblPr>
              <a:tblGrid>
                <a:gridCol w="3200400"/>
                <a:gridCol w="1371600"/>
                <a:gridCol w="5623560"/>
              </a:tblGrid>
              <a:tr h="402336">
                <a:tc>
                  <a:txBody>
                    <a:bodyPr/>
                    <a:lstStyle/>
                    <a:p>
                      <a:pPr algn="ctr"/>
                      <a:r>
                        <a:rPr sz="1500" b="1" i="0" u="none">
                          <a:solidFill>
                            <a:srgbClr val="FFFFFF"/>
                          </a:solidFill>
                          <a:latin typeface="Times New Roman"/>
                        </a:rPr>
                        <a:t>Component</a:t>
                      </a:r>
                    </a:p>
                  </a:txBody>
                  <a:tcPr anchor="ctr" marL="64008" marR="64008">
                    <a:solidFill>
                      <a:srgbClr val="002060"/>
                    </a:solidFill>
                  </a:tcPr>
                </a:tc>
                <a:tc>
                  <a:txBody>
                    <a:bodyPr/>
                    <a:lstStyle/>
                    <a:p>
                      <a:pPr algn="ctr"/>
                      <a:r>
                        <a:rPr sz="1500" b="1" i="0" u="none">
                          <a:solidFill>
                            <a:srgbClr val="FFFFFF"/>
                          </a:solidFill>
                          <a:latin typeface="Times New Roman"/>
                        </a:rPr>
                        <a:t>How many</a:t>
                      </a:r>
                    </a:p>
                  </a:txBody>
                  <a:tcPr anchor="ctr" marL="64008" marR="64008">
                    <a:solidFill>
                      <a:srgbClr val="002060"/>
                    </a:solidFill>
                  </a:tcPr>
                </a:tc>
                <a:tc>
                  <a:txBody>
                    <a:bodyPr/>
                    <a:lstStyle/>
                    <a:p>
                      <a:pPr algn="ctr"/>
                      <a:r>
                        <a:rPr sz="1500" b="1" i="0" u="none">
                          <a:solidFill>
                            <a:srgbClr val="FFFFFF"/>
                          </a:solidFill>
                          <a:latin typeface="Times New Roman"/>
                        </a:rPr>
                        <a:t>What it does</a:t>
                      </a:r>
                    </a:p>
                  </a:txBody>
                  <a:tcPr anchor="ctr" marL="64008" marR="64008">
                    <a:solidFill>
                      <a:srgbClr val="002060"/>
                    </a:solidFill>
                  </a:tcPr>
                </a:tc>
              </a:tr>
              <a:tr h="402336">
                <a:tc>
                  <a:txBody>
                    <a:bodyPr/>
                    <a:lstStyle/>
                    <a:p>
                      <a:pPr algn="l"/>
                      <a:r>
                        <a:rPr sz="1500" b="0" i="0" u="none">
                          <a:solidFill>
                            <a:srgbClr val="000000"/>
                          </a:solidFill>
                          <a:latin typeface="Times New Roman"/>
                        </a:rPr>
                        <a:t>18650 lithium-ion cells</a:t>
                      </a:r>
                    </a:p>
                  </a:txBody>
                  <a:tcPr anchor="ctr" marL="64008" marR="64008" marT="27432" marB="27432">
                    <a:solidFill>
                      <a:srgbClr val="FFFFFF"/>
                    </a:solidFill>
                  </a:tcPr>
                </a:tc>
                <a:tc>
                  <a:txBody>
                    <a:bodyPr/>
                    <a:lstStyle/>
                    <a:p>
                      <a:pPr algn="ctr"/>
                      <a:r>
                        <a:rPr sz="1500" b="0" i="0" u="none">
                          <a:solidFill>
                            <a:srgbClr val="000000"/>
                          </a:solidFill>
                          <a:latin typeface="Times New Roman"/>
                        </a:rPr>
                        <a:t>4</a:t>
                      </a:r>
                    </a:p>
                  </a:txBody>
                  <a:tcPr anchor="ctr" marL="64008" marR="64008" marT="27432" marB="27432">
                    <a:solidFill>
                      <a:srgbClr val="FFFFFF"/>
                    </a:solidFill>
                  </a:tcPr>
                </a:tc>
                <a:tc>
                  <a:txBody>
                    <a:bodyPr/>
                    <a:lstStyle/>
                    <a:p>
                      <a:pPr algn="l"/>
                      <a:r>
                        <a:rPr sz="1500" b="0" i="0" u="none">
                          <a:solidFill>
                            <a:srgbClr val="000000"/>
                          </a:solidFill>
                          <a:latin typeface="Times New Roman"/>
                        </a:rPr>
                        <a:t>The battery pack the system looks after</a:t>
                      </a:r>
                    </a:p>
                  </a:txBody>
                  <a:tcPr anchor="ctr" marL="64008" marR="64008" marT="27432" marB="27432">
                    <a:solidFill>
                      <a:srgbClr val="FFFFFF"/>
                    </a:solidFill>
                  </a:tcPr>
                </a:tc>
              </a:tr>
              <a:tr h="402336">
                <a:tc>
                  <a:txBody>
                    <a:bodyPr/>
                    <a:lstStyle/>
                    <a:p>
                      <a:pPr algn="l"/>
                      <a:r>
                        <a:rPr sz="1500" b="0" i="0" u="none">
                          <a:solidFill>
                            <a:srgbClr val="000000"/>
                          </a:solidFill>
                          <a:latin typeface="Times New Roman"/>
                        </a:rPr>
                        <a:t>ESP32 board</a:t>
                      </a:r>
                    </a:p>
                  </a:txBody>
                  <a:tcPr anchor="ctr" marL="64008" marR="64008" marT="27432" marB="27432">
                    <a:solidFill>
                      <a:srgbClr val="EDEDED"/>
                    </a:solidFill>
                  </a:tcPr>
                </a:tc>
                <a:tc>
                  <a:txBody>
                    <a:bodyPr/>
                    <a:lstStyle/>
                    <a:p>
                      <a:pPr algn="ctr"/>
                      <a:r>
                        <a:rPr sz="1500" b="0" i="0" u="none">
                          <a:solidFill>
                            <a:srgbClr val="000000"/>
                          </a:solidFill>
                          <a:latin typeface="Times New Roman"/>
                        </a:rPr>
                        <a:t>1</a:t>
                      </a:r>
                    </a:p>
                  </a:txBody>
                  <a:tcPr anchor="ctr" marL="64008" marR="64008" marT="27432" marB="27432">
                    <a:solidFill>
                      <a:srgbClr val="EDEDED"/>
                    </a:solidFill>
                  </a:tcPr>
                </a:tc>
                <a:tc>
                  <a:txBody>
                    <a:bodyPr/>
                    <a:lstStyle/>
                    <a:p>
                      <a:pPr algn="l"/>
                      <a:r>
                        <a:rPr sz="1500" b="0" i="0" u="none">
                          <a:solidFill>
                            <a:srgbClr val="000000"/>
                          </a:solidFill>
                          <a:latin typeface="Times New Roman"/>
                        </a:rPr>
                        <a:t>Reads the sensors and decides when to cut off</a:t>
                      </a:r>
                    </a:p>
                  </a:txBody>
                  <a:tcPr anchor="ctr" marL="64008" marR="64008" marT="27432" marB="27432">
                    <a:solidFill>
                      <a:srgbClr val="EDEDED"/>
                    </a:solidFill>
                  </a:tcPr>
                </a:tc>
              </a:tr>
              <a:tr h="402336">
                <a:tc>
                  <a:txBody>
                    <a:bodyPr/>
                    <a:lstStyle/>
                    <a:p>
                      <a:pPr algn="l"/>
                      <a:r>
                        <a:rPr sz="1500" b="0" i="0" u="none">
                          <a:solidFill>
                            <a:srgbClr val="000000"/>
                          </a:solidFill>
                          <a:latin typeface="Times New Roman"/>
                        </a:rPr>
                        <a:t>NTC thermistors</a:t>
                      </a:r>
                    </a:p>
                  </a:txBody>
                  <a:tcPr anchor="ctr" marL="64008" marR="64008" marT="27432" marB="27432">
                    <a:solidFill>
                      <a:srgbClr val="FFFFFF"/>
                    </a:solidFill>
                  </a:tcPr>
                </a:tc>
                <a:tc>
                  <a:txBody>
                    <a:bodyPr/>
                    <a:lstStyle/>
                    <a:p>
                      <a:pPr algn="ctr"/>
                      <a:r>
                        <a:rPr sz="1500" b="0" i="0" u="none">
                          <a:solidFill>
                            <a:srgbClr val="000000"/>
                          </a:solidFill>
                          <a:latin typeface="Times New Roman"/>
                        </a:rPr>
                        <a:t>4</a:t>
                      </a:r>
                    </a:p>
                  </a:txBody>
                  <a:tcPr anchor="ctr" marL="64008" marR="64008" marT="27432" marB="27432">
                    <a:solidFill>
                      <a:srgbClr val="FFFFFF"/>
                    </a:solidFill>
                  </a:tcPr>
                </a:tc>
                <a:tc>
                  <a:txBody>
                    <a:bodyPr/>
                    <a:lstStyle/>
                    <a:p>
                      <a:pPr algn="l"/>
                      <a:r>
                        <a:rPr sz="1500" b="0" i="0" u="none">
                          <a:solidFill>
                            <a:srgbClr val="000000"/>
                          </a:solidFill>
                          <a:latin typeface="Times New Roman"/>
                        </a:rPr>
                        <a:t>Measure the temperature of each cell</a:t>
                      </a:r>
                    </a:p>
                  </a:txBody>
                  <a:tcPr anchor="ctr" marL="64008" marR="64008" marT="27432" marB="27432">
                    <a:solidFill>
                      <a:srgbClr val="FFFFFF"/>
                    </a:solidFill>
                  </a:tcPr>
                </a:tc>
              </a:tr>
              <a:tr h="402336">
                <a:tc>
                  <a:txBody>
                    <a:bodyPr/>
                    <a:lstStyle/>
                    <a:p>
                      <a:pPr algn="l"/>
                      <a:r>
                        <a:rPr sz="1500" b="0" i="0" u="none">
                          <a:solidFill>
                            <a:srgbClr val="000000"/>
                          </a:solidFill>
                          <a:latin typeface="Times New Roman"/>
                        </a:rPr>
                        <a:t>Resistor dividers</a:t>
                      </a:r>
                    </a:p>
                  </a:txBody>
                  <a:tcPr anchor="ctr" marL="64008" marR="64008" marT="27432" marB="27432">
                    <a:solidFill>
                      <a:srgbClr val="EDEDED"/>
                    </a:solidFill>
                  </a:tcPr>
                </a:tc>
                <a:tc>
                  <a:txBody>
                    <a:bodyPr/>
                    <a:lstStyle/>
                    <a:p>
                      <a:pPr algn="ctr"/>
                      <a:r>
                        <a:rPr sz="1500" b="0" i="0" u="none">
                          <a:solidFill>
                            <a:srgbClr val="000000"/>
                          </a:solidFill>
                          <a:latin typeface="Times New Roman"/>
                        </a:rPr>
                        <a:t>4</a:t>
                      </a:r>
                    </a:p>
                  </a:txBody>
                  <a:tcPr anchor="ctr" marL="64008" marR="64008" marT="27432" marB="27432">
                    <a:solidFill>
                      <a:srgbClr val="EDEDED"/>
                    </a:solidFill>
                  </a:tcPr>
                </a:tc>
                <a:tc>
                  <a:txBody>
                    <a:bodyPr/>
                    <a:lstStyle/>
                    <a:p>
                      <a:pPr algn="l"/>
                      <a:r>
                        <a:rPr sz="1500" b="0" i="0" u="none">
                          <a:solidFill>
                            <a:srgbClr val="000000"/>
                          </a:solidFill>
                          <a:latin typeface="Times New Roman"/>
                        </a:rPr>
                        <a:t>Bring each cell voltage down to a level the ESP32 can read</a:t>
                      </a:r>
                    </a:p>
                  </a:txBody>
                  <a:tcPr anchor="ctr" marL="64008" marR="64008" marT="27432" marB="27432">
                    <a:solidFill>
                      <a:srgbClr val="EDEDED"/>
                    </a:solidFill>
                  </a:tcPr>
                </a:tc>
              </a:tr>
              <a:tr h="402336">
                <a:tc>
                  <a:txBody>
                    <a:bodyPr/>
                    <a:lstStyle/>
                    <a:p>
                      <a:pPr algn="l"/>
                      <a:r>
                        <a:rPr sz="1500" b="0" i="0" u="none">
                          <a:solidFill>
                            <a:srgbClr val="000000"/>
                          </a:solidFill>
                          <a:latin typeface="Times New Roman"/>
                        </a:rPr>
                        <a:t>Current sensor with shunt</a:t>
                      </a:r>
                    </a:p>
                  </a:txBody>
                  <a:tcPr anchor="ctr" marL="64008" marR="64008" marT="27432" marB="27432">
                    <a:solidFill>
                      <a:srgbClr val="FFFFFF"/>
                    </a:solidFill>
                  </a:tcPr>
                </a:tc>
                <a:tc>
                  <a:txBody>
                    <a:bodyPr/>
                    <a:lstStyle/>
                    <a:p>
                      <a:pPr algn="ctr"/>
                      <a:r>
                        <a:rPr sz="1500" b="0" i="0" u="none">
                          <a:solidFill>
                            <a:srgbClr val="000000"/>
                          </a:solidFill>
                          <a:latin typeface="Times New Roman"/>
                        </a:rPr>
                        <a:t>1</a:t>
                      </a:r>
                    </a:p>
                  </a:txBody>
                  <a:tcPr anchor="ctr" marL="64008" marR="64008" marT="27432" marB="27432">
                    <a:solidFill>
                      <a:srgbClr val="FFFFFF"/>
                    </a:solidFill>
                  </a:tcPr>
                </a:tc>
                <a:tc>
                  <a:txBody>
                    <a:bodyPr/>
                    <a:lstStyle/>
                    <a:p>
                      <a:pPr algn="l"/>
                      <a:r>
                        <a:rPr sz="1500" b="0" i="0" u="none">
                          <a:solidFill>
                            <a:srgbClr val="000000"/>
                          </a:solidFill>
                          <a:latin typeface="Times New Roman"/>
                        </a:rPr>
                        <a:t>Measures the current going into and out of the pack</a:t>
                      </a:r>
                    </a:p>
                  </a:txBody>
                  <a:tcPr anchor="ctr" marL="64008" marR="64008" marT="27432" marB="27432">
                    <a:solidFill>
                      <a:srgbClr val="FFFFFF"/>
                    </a:solidFill>
                  </a:tcPr>
                </a:tc>
              </a:tr>
              <a:tr h="402336">
                <a:tc>
                  <a:txBody>
                    <a:bodyPr/>
                    <a:lstStyle/>
                    <a:p>
                      <a:pPr algn="l"/>
                      <a:r>
                        <a:rPr sz="1500" b="0" i="0" u="none">
                          <a:solidFill>
                            <a:srgbClr val="000000"/>
                          </a:solidFill>
                          <a:latin typeface="Times New Roman"/>
                        </a:rPr>
                        <a:t>Analogue multiplexer</a:t>
                      </a:r>
                    </a:p>
                  </a:txBody>
                  <a:tcPr anchor="ctr" marL="64008" marR="64008" marT="27432" marB="27432">
                    <a:solidFill>
                      <a:srgbClr val="EDEDED"/>
                    </a:solidFill>
                  </a:tcPr>
                </a:tc>
                <a:tc>
                  <a:txBody>
                    <a:bodyPr/>
                    <a:lstStyle/>
                    <a:p>
                      <a:pPr algn="ctr"/>
                      <a:r>
                        <a:rPr sz="1500" b="0" i="0" u="none">
                          <a:solidFill>
                            <a:srgbClr val="000000"/>
                          </a:solidFill>
                          <a:latin typeface="Times New Roman"/>
                        </a:rPr>
                        <a:t>1</a:t>
                      </a:r>
                    </a:p>
                  </a:txBody>
                  <a:tcPr anchor="ctr" marL="64008" marR="64008" marT="27432" marB="27432">
                    <a:solidFill>
                      <a:srgbClr val="EDEDED"/>
                    </a:solidFill>
                  </a:tcPr>
                </a:tc>
                <a:tc>
                  <a:txBody>
                    <a:bodyPr/>
                    <a:lstStyle/>
                    <a:p>
                      <a:pPr algn="l"/>
                      <a:r>
                        <a:rPr sz="1500" b="0" i="0" u="none">
                          <a:solidFill>
                            <a:srgbClr val="000000"/>
                          </a:solidFill>
                          <a:latin typeface="Times New Roman"/>
                        </a:rPr>
                        <a:t>Lets one input pin read all four thermistors</a:t>
                      </a:r>
                    </a:p>
                  </a:txBody>
                  <a:tcPr anchor="ctr" marL="64008" marR="64008" marT="27432" marB="27432">
                    <a:solidFill>
                      <a:srgbClr val="EDEDED"/>
                    </a:solidFill>
                  </a:tcPr>
                </a:tc>
              </a:tr>
              <a:tr h="402336">
                <a:tc>
                  <a:txBody>
                    <a:bodyPr/>
                    <a:lstStyle/>
                    <a:p>
                      <a:pPr algn="l"/>
                      <a:r>
                        <a:rPr sz="1500" b="0" i="0" u="none">
                          <a:solidFill>
                            <a:srgbClr val="000000"/>
                          </a:solidFill>
                          <a:latin typeface="Times New Roman"/>
                        </a:rPr>
                        <a:t>MOSFETs</a:t>
                      </a:r>
                    </a:p>
                  </a:txBody>
                  <a:tcPr anchor="ctr" marL="64008" marR="64008" marT="27432" marB="27432">
                    <a:solidFill>
                      <a:srgbClr val="FFFFFF"/>
                    </a:solidFill>
                  </a:tcPr>
                </a:tc>
                <a:tc>
                  <a:txBody>
                    <a:bodyPr/>
                    <a:lstStyle/>
                    <a:p>
                      <a:pPr algn="ctr"/>
                      <a:r>
                        <a:rPr sz="1500" b="0" i="0" u="none">
                          <a:solidFill>
                            <a:srgbClr val="000000"/>
                          </a:solidFill>
                          <a:latin typeface="Times New Roman"/>
                        </a:rPr>
                        <a:t>2</a:t>
                      </a:r>
                    </a:p>
                  </a:txBody>
                  <a:tcPr anchor="ctr" marL="64008" marR="64008" marT="27432" marB="27432">
                    <a:solidFill>
                      <a:srgbClr val="FFFFFF"/>
                    </a:solidFill>
                  </a:tcPr>
                </a:tc>
                <a:tc>
                  <a:txBody>
                    <a:bodyPr/>
                    <a:lstStyle/>
                    <a:p>
                      <a:pPr algn="l"/>
                      <a:r>
                        <a:rPr sz="1500" b="0" i="0" u="none">
                          <a:solidFill>
                            <a:srgbClr val="000000"/>
                          </a:solidFill>
                          <a:latin typeface="Times New Roman"/>
                        </a:rPr>
                        <a:t>The switches that stop charging and discharging</a:t>
                      </a:r>
                    </a:p>
                  </a:txBody>
                  <a:tcPr anchor="ctr" marL="64008" marR="64008" marT="27432" marB="27432">
                    <a:solidFill>
                      <a:srgbClr val="FFFFFF"/>
                    </a:solidFill>
                  </a:tcPr>
                </a:tc>
              </a:tr>
              <a:tr h="402336">
                <a:tc>
                  <a:txBody>
                    <a:bodyPr/>
                    <a:lstStyle/>
                    <a:p>
                      <a:pPr algn="l"/>
                      <a:r>
                        <a:rPr sz="1500" b="0" i="0" u="none">
                          <a:solidFill>
                            <a:srgbClr val="000000"/>
                          </a:solidFill>
                          <a:latin typeface="Times New Roman"/>
                        </a:rPr>
                        <a:t>Bleed resistors</a:t>
                      </a:r>
                    </a:p>
                  </a:txBody>
                  <a:tcPr anchor="ctr" marL="64008" marR="64008" marT="27432" marB="27432">
                    <a:solidFill>
                      <a:srgbClr val="EDEDED"/>
                    </a:solidFill>
                  </a:tcPr>
                </a:tc>
                <a:tc>
                  <a:txBody>
                    <a:bodyPr/>
                    <a:lstStyle/>
                    <a:p>
                      <a:pPr algn="ctr"/>
                      <a:r>
                        <a:rPr sz="1500" b="0" i="0" u="none">
                          <a:solidFill>
                            <a:srgbClr val="000000"/>
                          </a:solidFill>
                          <a:latin typeface="Times New Roman"/>
                        </a:rPr>
                        <a:t>4</a:t>
                      </a:r>
                    </a:p>
                  </a:txBody>
                  <a:tcPr anchor="ctr" marL="64008" marR="64008" marT="27432" marB="27432">
                    <a:solidFill>
                      <a:srgbClr val="EDEDED"/>
                    </a:solidFill>
                  </a:tcPr>
                </a:tc>
                <a:tc>
                  <a:txBody>
                    <a:bodyPr/>
                    <a:lstStyle/>
                    <a:p>
                      <a:pPr algn="l"/>
                      <a:r>
                        <a:rPr sz="1500" b="0" i="0" u="none">
                          <a:solidFill>
                            <a:srgbClr val="000000"/>
                          </a:solidFill>
                          <a:latin typeface="Times New Roman"/>
                        </a:rPr>
                        <a:t>Drain a little charge from a cell that is fuller than the rest</a:t>
                      </a:r>
                    </a:p>
                  </a:txBody>
                  <a:tcPr anchor="ctr" marL="64008" marR="64008" marT="27432" marB="27432">
                    <a:solidFill>
                      <a:srgbClr val="EDEDED"/>
                    </a:solidFill>
                  </a:tcPr>
                </a:tc>
              </a:tr>
              <a:tr h="402336">
                <a:tc>
                  <a:txBody>
                    <a:bodyPr/>
                    <a:lstStyle/>
                    <a:p>
                      <a:pPr algn="l"/>
                      <a:r>
                        <a:rPr sz="1500" b="0" i="0" u="none">
                          <a:solidFill>
                            <a:srgbClr val="000000"/>
                          </a:solidFill>
                          <a:latin typeface="Times New Roman"/>
                        </a:rPr>
                        <a:t>Buck converter</a:t>
                      </a:r>
                    </a:p>
                  </a:txBody>
                  <a:tcPr anchor="ctr" marL="64008" marR="64008" marT="27432" marB="27432">
                    <a:solidFill>
                      <a:srgbClr val="FFFFFF"/>
                    </a:solidFill>
                  </a:tcPr>
                </a:tc>
                <a:tc>
                  <a:txBody>
                    <a:bodyPr/>
                    <a:lstStyle/>
                    <a:p>
                      <a:pPr algn="ctr"/>
                      <a:r>
                        <a:rPr sz="1500" b="0" i="0" u="none">
                          <a:solidFill>
                            <a:srgbClr val="000000"/>
                          </a:solidFill>
                          <a:latin typeface="Times New Roman"/>
                        </a:rPr>
                        <a:t>1</a:t>
                      </a:r>
                    </a:p>
                  </a:txBody>
                  <a:tcPr anchor="ctr" marL="64008" marR="64008" marT="27432" marB="27432">
                    <a:solidFill>
                      <a:srgbClr val="FFFFFF"/>
                    </a:solidFill>
                  </a:tcPr>
                </a:tc>
                <a:tc>
                  <a:txBody>
                    <a:bodyPr/>
                    <a:lstStyle/>
                    <a:p>
                      <a:pPr algn="l"/>
                      <a:r>
                        <a:rPr sz="1500" b="0" i="0" u="none">
                          <a:solidFill>
                            <a:srgbClr val="000000"/>
                          </a:solidFill>
                          <a:latin typeface="Times New Roman"/>
                        </a:rPr>
                        <a:t>Makes the 3.3 V supply for the ESP32 from the pack</a:t>
                      </a:r>
                    </a:p>
                  </a:txBody>
                  <a:tcPr anchor="ctr" marL="64008" marR="64008" marT="27432" marB="27432">
                    <a:solidFill>
                      <a:srgbClr val="FFFFFF"/>
                    </a:solidFill>
                  </a:tcPr>
                </a:tc>
              </a:tr>
              <a:tr h="402336">
                <a:tc>
                  <a:txBody>
                    <a:bodyPr/>
                    <a:lstStyle/>
                    <a:p>
                      <a:pPr algn="l"/>
                      <a:r>
                        <a:rPr sz="1500" b="0" i="0" u="none">
                          <a:solidFill>
                            <a:srgbClr val="000000"/>
                          </a:solidFill>
                          <a:latin typeface="Times New Roman"/>
                        </a:rPr>
                        <a:t>Fuse</a:t>
                      </a:r>
                    </a:p>
                  </a:txBody>
                  <a:tcPr anchor="ctr" marL="64008" marR="64008" marT="27432" marB="27432">
                    <a:solidFill>
                      <a:srgbClr val="EDEDED"/>
                    </a:solidFill>
                  </a:tcPr>
                </a:tc>
                <a:tc>
                  <a:txBody>
                    <a:bodyPr/>
                    <a:lstStyle/>
                    <a:p>
                      <a:pPr algn="ctr"/>
                      <a:r>
                        <a:rPr sz="1500" b="0" i="0" u="none">
                          <a:solidFill>
                            <a:srgbClr val="000000"/>
                          </a:solidFill>
                          <a:latin typeface="Times New Roman"/>
                        </a:rPr>
                        <a:t>1</a:t>
                      </a:r>
                    </a:p>
                  </a:txBody>
                  <a:tcPr anchor="ctr" marL="64008" marR="64008" marT="27432" marB="27432">
                    <a:solidFill>
                      <a:srgbClr val="EDEDED"/>
                    </a:solidFill>
                  </a:tcPr>
                </a:tc>
                <a:tc>
                  <a:txBody>
                    <a:bodyPr/>
                    <a:lstStyle/>
                    <a:p>
                      <a:pPr algn="l"/>
                      <a:r>
                        <a:rPr sz="1500" b="0" i="0" u="none">
                          <a:solidFill>
                            <a:srgbClr val="000000"/>
                          </a:solidFill>
                          <a:latin typeface="Times New Roman"/>
                        </a:rPr>
                        <a:t>The last protection if the electronics fail</a:t>
                      </a:r>
                    </a:p>
                  </a:txBody>
                  <a:tcPr anchor="ctr" marL="64008" marR="64008" marT="27432" marB="27432">
                    <a:solidFill>
                      <a:srgbClr val="EDEDED"/>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Implementation and Tools</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7</a:t>
            </a:r>
          </a:p>
        </p:txBody>
      </p:sp>
      <p:sp>
        <p:nvSpPr>
          <p:cNvPr id="7" name="TextBox 6"/>
          <p:cNvSpPr txBox="1"/>
          <p:nvPr/>
        </p:nvSpPr>
        <p:spPr>
          <a:xfrm>
            <a:off x="1168603" y="1316736"/>
            <a:ext cx="10195560" cy="420624"/>
          </a:xfrm>
          <a:prstGeom prst="rect">
            <a:avLst/>
          </a:prstGeom>
          <a:noFill/>
        </p:spPr>
        <p:txBody>
          <a:bodyPr wrap="square" lIns="0" rIns="0" tIns="0" bIns="0">
            <a:noAutofit/>
          </a:bodyPr>
          <a:lstStyle/>
          <a:p>
            <a:pPr algn="ctr"/>
            <a:r>
              <a:rPr sz="1800" b="1" i="0" u="none">
                <a:solidFill>
                  <a:srgbClr val="000000"/>
                </a:solidFill>
                <a:latin typeface="Times New Roman"/>
              </a:rPr>
              <a:t>This project has a hardware part and a software part. Both are built here.</a:t>
            </a:r>
          </a:p>
        </p:txBody>
      </p:sp>
      <p:graphicFrame>
        <p:nvGraphicFramePr>
          <p:cNvPr id="8" name="Table 7"/>
          <p:cNvGraphicFramePr>
            <a:graphicFrameLocks noGrp="1"/>
          </p:cNvGraphicFramePr>
          <p:nvPr/>
        </p:nvGraphicFramePr>
        <p:xfrm>
          <a:off x="975207" y="1956816"/>
          <a:ext cx="10241280" cy="4187952"/>
        </p:xfrm>
        <a:graphic>
          <a:graphicData uri="http://schemas.openxmlformats.org/drawingml/2006/table">
            <a:tbl>
              <a:tblPr firstRow="1">
                <a:tableStyleId>{5C22544A-7EE6-4342-B048-85BDC9FD1C3A}</a:tableStyleId>
              </a:tblPr>
              <a:tblGrid>
                <a:gridCol w="1737360"/>
                <a:gridCol w="2926080"/>
                <a:gridCol w="5577840"/>
              </a:tblGrid>
              <a:tr h="418795">
                <a:tc>
                  <a:txBody>
                    <a:bodyPr/>
                    <a:lstStyle/>
                    <a:p>
                      <a:pPr algn="ctr"/>
                      <a:r>
                        <a:rPr sz="1500" b="1" i="0" u="none">
                          <a:solidFill>
                            <a:srgbClr val="FFFFFF"/>
                          </a:solidFill>
                          <a:latin typeface="Times New Roman"/>
                        </a:rPr>
                        <a:t>Side</a:t>
                      </a:r>
                    </a:p>
                  </a:txBody>
                  <a:tcPr anchor="ctr" marL="64008" marR="64008">
                    <a:solidFill>
                      <a:srgbClr val="002060"/>
                    </a:solidFill>
                  </a:tcPr>
                </a:tc>
                <a:tc>
                  <a:txBody>
                    <a:bodyPr/>
                    <a:lstStyle/>
                    <a:p>
                      <a:pPr algn="ctr"/>
                      <a:r>
                        <a:rPr sz="1500" b="1" i="0" u="none">
                          <a:solidFill>
                            <a:srgbClr val="FFFFFF"/>
                          </a:solidFill>
                          <a:latin typeface="Times New Roman"/>
                        </a:rPr>
                        <a:t>Tool</a:t>
                      </a:r>
                    </a:p>
                  </a:txBody>
                  <a:tcPr anchor="ctr" marL="64008" marR="64008">
                    <a:solidFill>
                      <a:srgbClr val="002060"/>
                    </a:solidFill>
                  </a:tcPr>
                </a:tc>
                <a:tc>
                  <a:txBody>
                    <a:bodyPr/>
                    <a:lstStyle/>
                    <a:p>
                      <a:pPr algn="ctr"/>
                      <a:r>
                        <a:rPr sz="1500" b="1" i="0" u="none">
                          <a:solidFill>
                            <a:srgbClr val="FFFFFF"/>
                          </a:solidFill>
                          <a:latin typeface="Times New Roman"/>
                        </a:rPr>
                        <a:t>What it is used for</a:t>
                      </a:r>
                    </a:p>
                  </a:txBody>
                  <a:tcPr anchor="ctr" marL="64008" marR="64008">
                    <a:solidFill>
                      <a:srgbClr val="002060"/>
                    </a:solidFill>
                  </a:tcPr>
                </a:tc>
              </a:tr>
              <a:tr h="418795">
                <a:tc>
                  <a:txBody>
                    <a:bodyPr/>
                    <a:lstStyle/>
                    <a:p>
                      <a:pPr algn="ctr"/>
                      <a:r>
                        <a:rPr sz="1500" b="0" i="0" u="none">
                          <a:solidFill>
                            <a:srgbClr val="000000"/>
                          </a:solidFill>
                          <a:latin typeface="Times New Roman"/>
                        </a:rPr>
                        <a:t>Hardware</a:t>
                      </a:r>
                    </a:p>
                  </a:txBody>
                  <a:tcPr anchor="ctr" marL="64008" marR="64008" marT="27432" marB="27432">
                    <a:solidFill>
                      <a:srgbClr val="FFFFFF"/>
                    </a:solidFill>
                  </a:tcPr>
                </a:tc>
                <a:tc>
                  <a:txBody>
                    <a:bodyPr/>
                    <a:lstStyle/>
                    <a:p>
                      <a:pPr algn="l"/>
                      <a:r>
                        <a:rPr sz="1500" b="0" i="0" u="none">
                          <a:solidFill>
                            <a:srgbClr val="000000"/>
                          </a:solidFill>
                          <a:latin typeface="Times New Roman"/>
                        </a:rPr>
                        <a:t>Siemens NX</a:t>
                      </a:r>
                    </a:p>
                  </a:txBody>
                  <a:tcPr anchor="ctr" marL="64008" marR="64008" marT="27432" marB="27432">
                    <a:solidFill>
                      <a:srgbClr val="FFFFFF"/>
                    </a:solidFill>
                  </a:tcPr>
                </a:tc>
                <a:tc>
                  <a:txBody>
                    <a:bodyPr/>
                    <a:lstStyle/>
                    <a:p>
                      <a:pPr algn="l"/>
                      <a:r>
                        <a:rPr sz="1500" b="0" i="0" u="none">
                          <a:solidFill>
                            <a:srgbClr val="000000"/>
                          </a:solidFill>
                          <a:latin typeface="Times New Roman"/>
                        </a:rPr>
                        <a:t>Modelling the enclosure</a:t>
                      </a:r>
                    </a:p>
                  </a:txBody>
                  <a:tcPr anchor="ctr" marL="64008" marR="64008" marT="27432" marB="27432">
                    <a:solidFill>
                      <a:srgbClr val="FFFFFF"/>
                    </a:solidFill>
                  </a:tcPr>
                </a:tc>
              </a:tr>
              <a:tr h="418795">
                <a:tc>
                  <a:txBody>
                    <a:bodyPr/>
                    <a:lstStyle/>
                    <a:p>
                      <a:pPr algn="ctr"/>
                      <a:r>
                        <a:rPr sz="1500" b="0" i="0" u="none">
                          <a:solidFill>
                            <a:srgbClr val="000000"/>
                          </a:solidFill>
                          <a:latin typeface="Times New Roman"/>
                        </a:rPr>
                        <a:t>Hardware</a:t>
                      </a:r>
                    </a:p>
                  </a:txBody>
                  <a:tcPr anchor="ctr" marL="64008" marR="64008" marT="27432" marB="27432">
                    <a:solidFill>
                      <a:srgbClr val="EDEDED"/>
                    </a:solidFill>
                  </a:tcPr>
                </a:tc>
                <a:tc>
                  <a:txBody>
                    <a:bodyPr/>
                    <a:lstStyle/>
                    <a:p>
                      <a:pPr algn="l"/>
                      <a:r>
                        <a:rPr sz="1500" b="0" i="0" u="none">
                          <a:solidFill>
                            <a:srgbClr val="000000"/>
                          </a:solidFill>
                          <a:latin typeface="Times New Roman"/>
                        </a:rPr>
                        <a:t>3D printer, PLA+</a:t>
                      </a:r>
                    </a:p>
                  </a:txBody>
                  <a:tcPr anchor="ctr" marL="64008" marR="64008" marT="27432" marB="27432">
                    <a:solidFill>
                      <a:srgbClr val="EDEDED"/>
                    </a:solidFill>
                  </a:tcPr>
                </a:tc>
                <a:tc>
                  <a:txBody>
                    <a:bodyPr/>
                    <a:lstStyle/>
                    <a:p>
                      <a:pPr algn="l"/>
                      <a:r>
                        <a:rPr sz="1500" b="0" i="0" u="none">
                          <a:solidFill>
                            <a:srgbClr val="000000"/>
                          </a:solidFill>
                          <a:latin typeface="Times New Roman"/>
                        </a:rPr>
                        <a:t>Printing the enclosure</a:t>
                      </a:r>
                    </a:p>
                  </a:txBody>
                  <a:tcPr anchor="ctr" marL="64008" marR="64008" marT="27432" marB="27432">
                    <a:solidFill>
                      <a:srgbClr val="EDEDED"/>
                    </a:solidFill>
                  </a:tcPr>
                </a:tc>
              </a:tr>
              <a:tr h="418795">
                <a:tc>
                  <a:txBody>
                    <a:bodyPr/>
                    <a:lstStyle/>
                    <a:p>
                      <a:pPr algn="ctr"/>
                      <a:r>
                        <a:rPr sz="1500" b="0" i="0" u="none">
                          <a:solidFill>
                            <a:srgbClr val="000000"/>
                          </a:solidFill>
                          <a:latin typeface="Times New Roman"/>
                        </a:rPr>
                        <a:t>Hardware</a:t>
                      </a:r>
                    </a:p>
                  </a:txBody>
                  <a:tcPr anchor="ctr" marL="64008" marR="64008" marT="27432" marB="27432">
                    <a:solidFill>
                      <a:srgbClr val="FFFFFF"/>
                    </a:solidFill>
                  </a:tcPr>
                </a:tc>
                <a:tc>
                  <a:txBody>
                    <a:bodyPr/>
                    <a:lstStyle/>
                    <a:p>
                      <a:pPr algn="l"/>
                      <a:r>
                        <a:rPr sz="1500" b="0" i="0" u="none">
                          <a:solidFill>
                            <a:srgbClr val="000000"/>
                          </a:solidFill>
                          <a:latin typeface="Times New Roman"/>
                        </a:rPr>
                        <a:t>Soldering station</a:t>
                      </a:r>
                    </a:p>
                  </a:txBody>
                  <a:tcPr anchor="ctr" marL="64008" marR="64008" marT="27432" marB="27432">
                    <a:solidFill>
                      <a:srgbClr val="FFFFFF"/>
                    </a:solidFill>
                  </a:tcPr>
                </a:tc>
                <a:tc>
                  <a:txBody>
                    <a:bodyPr/>
                    <a:lstStyle/>
                    <a:p>
                      <a:pPr algn="l"/>
                      <a:r>
                        <a:rPr sz="1500" b="0" i="0" u="none">
                          <a:solidFill>
                            <a:srgbClr val="000000"/>
                          </a:solidFill>
                          <a:latin typeface="Times New Roman"/>
                        </a:rPr>
                        <a:t>Building the board, perfboard first, then a soldered PCB</a:t>
                      </a:r>
                    </a:p>
                  </a:txBody>
                  <a:tcPr anchor="ctr" marL="64008" marR="64008" marT="27432" marB="27432">
                    <a:solidFill>
                      <a:srgbClr val="FFFFFF"/>
                    </a:solidFill>
                  </a:tcPr>
                </a:tc>
              </a:tr>
              <a:tr h="418795">
                <a:tc>
                  <a:txBody>
                    <a:bodyPr/>
                    <a:lstStyle/>
                    <a:p>
                      <a:pPr algn="ctr"/>
                      <a:r>
                        <a:rPr sz="1500" b="0" i="0" u="none">
                          <a:solidFill>
                            <a:srgbClr val="000000"/>
                          </a:solidFill>
                          <a:latin typeface="Times New Roman"/>
                        </a:rPr>
                        <a:t>Hardware</a:t>
                      </a:r>
                    </a:p>
                  </a:txBody>
                  <a:tcPr anchor="ctr" marL="64008" marR="64008" marT="27432" marB="27432">
                    <a:solidFill>
                      <a:srgbClr val="EDEDED"/>
                    </a:solidFill>
                  </a:tcPr>
                </a:tc>
                <a:tc>
                  <a:txBody>
                    <a:bodyPr/>
                    <a:lstStyle/>
                    <a:p>
                      <a:pPr algn="l"/>
                      <a:r>
                        <a:rPr sz="1500" b="0" i="0" u="none">
                          <a:solidFill>
                            <a:srgbClr val="000000"/>
                          </a:solidFill>
                          <a:latin typeface="Times New Roman"/>
                        </a:rPr>
                        <a:t>Multimeter, bench supply</a:t>
                      </a:r>
                    </a:p>
                  </a:txBody>
                  <a:tcPr anchor="ctr" marL="64008" marR="64008" marT="27432" marB="27432">
                    <a:solidFill>
                      <a:srgbClr val="EDEDED"/>
                    </a:solidFill>
                  </a:tcPr>
                </a:tc>
                <a:tc>
                  <a:txBody>
                    <a:bodyPr/>
                    <a:lstStyle/>
                    <a:p>
                      <a:pPr algn="l"/>
                      <a:r>
                        <a:rPr sz="1500" b="0" i="0" u="none">
                          <a:solidFill>
                            <a:srgbClr val="000000"/>
                          </a:solidFill>
                          <a:latin typeface="Times New Roman"/>
                        </a:rPr>
                        <a:t>Measuring and testing the circuit</a:t>
                      </a:r>
                    </a:p>
                  </a:txBody>
                  <a:tcPr anchor="ctr" marL="64008" marR="64008" marT="27432" marB="27432">
                    <a:solidFill>
                      <a:srgbClr val="EDEDED"/>
                    </a:solidFill>
                  </a:tcPr>
                </a:tc>
              </a:tr>
              <a:tr h="418795">
                <a:tc>
                  <a:txBody>
                    <a:bodyPr/>
                    <a:lstStyle/>
                    <a:p>
                      <a:pPr algn="ctr"/>
                      <a:r>
                        <a:rPr sz="1500" b="0" i="0" u="none">
                          <a:solidFill>
                            <a:srgbClr val="000000"/>
                          </a:solidFill>
                          <a:latin typeface="Times New Roman"/>
                        </a:rPr>
                        <a:t>Software</a:t>
                      </a:r>
                    </a:p>
                  </a:txBody>
                  <a:tcPr anchor="ctr" marL="64008" marR="64008" marT="27432" marB="27432">
                    <a:solidFill>
                      <a:srgbClr val="FFFFFF"/>
                    </a:solidFill>
                  </a:tcPr>
                </a:tc>
                <a:tc>
                  <a:txBody>
                    <a:bodyPr/>
                    <a:lstStyle/>
                    <a:p>
                      <a:pPr algn="l"/>
                      <a:r>
                        <a:rPr sz="1500" b="0" i="0" u="none">
                          <a:solidFill>
                            <a:srgbClr val="000000"/>
                          </a:solidFill>
                          <a:latin typeface="Times New Roman"/>
                        </a:rPr>
                        <a:t>ESP-IDF</a:t>
                      </a:r>
                    </a:p>
                  </a:txBody>
                  <a:tcPr anchor="ctr" marL="64008" marR="64008" marT="27432" marB="27432">
                    <a:solidFill>
                      <a:srgbClr val="FFFFFF"/>
                    </a:solidFill>
                  </a:tcPr>
                </a:tc>
                <a:tc>
                  <a:txBody>
                    <a:bodyPr/>
                    <a:lstStyle/>
                    <a:p>
                      <a:pPr algn="l"/>
                      <a:r>
                        <a:rPr sz="1500" b="0" i="0" u="none">
                          <a:solidFill>
                            <a:srgbClr val="000000"/>
                          </a:solidFill>
                          <a:latin typeface="Times New Roman"/>
                        </a:rPr>
                        <a:t>The framework the firmware is built on</a:t>
                      </a:r>
                    </a:p>
                  </a:txBody>
                  <a:tcPr anchor="ctr" marL="64008" marR="64008" marT="27432" marB="27432">
                    <a:solidFill>
                      <a:srgbClr val="FFFFFF"/>
                    </a:solidFill>
                  </a:tcPr>
                </a:tc>
              </a:tr>
              <a:tr h="418795">
                <a:tc>
                  <a:txBody>
                    <a:bodyPr/>
                    <a:lstStyle/>
                    <a:p>
                      <a:pPr algn="ctr"/>
                      <a:r>
                        <a:rPr sz="1500" b="0" i="0" u="none">
                          <a:solidFill>
                            <a:srgbClr val="000000"/>
                          </a:solidFill>
                          <a:latin typeface="Times New Roman"/>
                        </a:rPr>
                        <a:t>Software</a:t>
                      </a:r>
                    </a:p>
                  </a:txBody>
                  <a:tcPr anchor="ctr" marL="64008" marR="64008" marT="27432" marB="27432">
                    <a:solidFill>
                      <a:srgbClr val="EDEDED"/>
                    </a:solidFill>
                  </a:tcPr>
                </a:tc>
                <a:tc>
                  <a:txBody>
                    <a:bodyPr/>
                    <a:lstStyle/>
                    <a:p>
                      <a:pPr algn="l"/>
                      <a:r>
                        <a:rPr sz="1500" b="0" i="0" u="none">
                          <a:solidFill>
                            <a:srgbClr val="000000"/>
                          </a:solidFill>
                          <a:latin typeface="Times New Roman"/>
                        </a:rPr>
                        <a:t>C++</a:t>
                      </a:r>
                    </a:p>
                  </a:txBody>
                  <a:tcPr anchor="ctr" marL="64008" marR="64008" marT="27432" marB="27432">
                    <a:solidFill>
                      <a:srgbClr val="EDEDED"/>
                    </a:solidFill>
                  </a:tcPr>
                </a:tc>
                <a:tc>
                  <a:txBody>
                    <a:bodyPr/>
                    <a:lstStyle/>
                    <a:p>
                      <a:pPr algn="l"/>
                      <a:r>
                        <a:rPr sz="1500" b="0" i="0" u="none">
                          <a:solidFill>
                            <a:srgbClr val="000000"/>
                          </a:solidFill>
                          <a:latin typeface="Times New Roman"/>
                        </a:rPr>
                        <a:t>The language the firmware is written in</a:t>
                      </a:r>
                    </a:p>
                  </a:txBody>
                  <a:tcPr anchor="ctr" marL="64008" marR="64008" marT="27432" marB="27432">
                    <a:solidFill>
                      <a:srgbClr val="EDEDED"/>
                    </a:solidFill>
                  </a:tcPr>
                </a:tc>
              </a:tr>
              <a:tr h="418795">
                <a:tc>
                  <a:txBody>
                    <a:bodyPr/>
                    <a:lstStyle/>
                    <a:p>
                      <a:pPr algn="ctr"/>
                      <a:r>
                        <a:rPr sz="1500" b="0" i="0" u="none">
                          <a:solidFill>
                            <a:srgbClr val="000000"/>
                          </a:solidFill>
                          <a:latin typeface="Times New Roman"/>
                        </a:rPr>
                        <a:t>Software</a:t>
                      </a:r>
                    </a:p>
                  </a:txBody>
                  <a:tcPr anchor="ctr" marL="64008" marR="64008" marT="27432" marB="27432">
                    <a:solidFill>
                      <a:srgbClr val="FFFFFF"/>
                    </a:solidFill>
                  </a:tcPr>
                </a:tc>
                <a:tc>
                  <a:txBody>
                    <a:bodyPr/>
                    <a:lstStyle/>
                    <a:p>
                      <a:pPr algn="l"/>
                      <a:r>
                        <a:rPr sz="1500" b="0" i="0" u="none">
                          <a:solidFill>
                            <a:srgbClr val="000000"/>
                          </a:solidFill>
                          <a:latin typeface="Times New Roman"/>
                        </a:rPr>
                        <a:t>FreeRTOS</a:t>
                      </a:r>
                    </a:p>
                  </a:txBody>
                  <a:tcPr anchor="ctr" marL="64008" marR="64008" marT="27432" marB="27432">
                    <a:solidFill>
                      <a:srgbClr val="FFFFFF"/>
                    </a:solidFill>
                  </a:tcPr>
                </a:tc>
                <a:tc>
                  <a:txBody>
                    <a:bodyPr/>
                    <a:lstStyle/>
                    <a:p>
                      <a:pPr algn="l"/>
                      <a:r>
                        <a:rPr sz="1500" b="0" i="0" u="none">
                          <a:solidFill>
                            <a:srgbClr val="000000"/>
                          </a:solidFill>
                          <a:latin typeface="Times New Roman"/>
                        </a:rPr>
                        <a:t>Running the sensor, safety and telemetry tasks</a:t>
                      </a:r>
                    </a:p>
                  </a:txBody>
                  <a:tcPr anchor="ctr" marL="64008" marR="64008" marT="27432" marB="27432">
                    <a:solidFill>
                      <a:srgbClr val="FFFFFF"/>
                    </a:solidFill>
                  </a:tcPr>
                </a:tc>
              </a:tr>
              <a:tr h="418795">
                <a:tc>
                  <a:txBody>
                    <a:bodyPr/>
                    <a:lstStyle/>
                    <a:p>
                      <a:pPr algn="ctr"/>
                      <a:r>
                        <a:rPr sz="1500" b="0" i="0" u="none">
                          <a:solidFill>
                            <a:srgbClr val="000000"/>
                          </a:solidFill>
                          <a:latin typeface="Times New Roman"/>
                        </a:rPr>
                        <a:t>Software</a:t>
                      </a:r>
                    </a:p>
                  </a:txBody>
                  <a:tcPr anchor="ctr" marL="64008" marR="64008" marT="27432" marB="27432">
                    <a:solidFill>
                      <a:srgbClr val="EDEDED"/>
                    </a:solidFill>
                  </a:tcPr>
                </a:tc>
                <a:tc>
                  <a:txBody>
                    <a:bodyPr/>
                    <a:lstStyle/>
                    <a:p>
                      <a:pPr algn="l"/>
                      <a:r>
                        <a:rPr sz="1500" b="0" i="0" u="none">
                          <a:solidFill>
                            <a:srgbClr val="000000"/>
                          </a:solidFill>
                          <a:latin typeface="Times New Roman"/>
                        </a:rPr>
                        <a:t>HTML, CSS, JavaScript</a:t>
                      </a:r>
                    </a:p>
                  </a:txBody>
                  <a:tcPr anchor="ctr" marL="64008" marR="64008" marT="27432" marB="27432">
                    <a:solidFill>
                      <a:srgbClr val="EDEDED"/>
                    </a:solidFill>
                  </a:tcPr>
                </a:tc>
                <a:tc>
                  <a:txBody>
                    <a:bodyPr/>
                    <a:lstStyle/>
                    <a:p>
                      <a:pPr algn="l"/>
                      <a:r>
                        <a:rPr sz="1500" b="0" i="0" u="none">
                          <a:solidFill>
                            <a:srgbClr val="000000"/>
                          </a:solidFill>
                          <a:latin typeface="Times New Roman"/>
                        </a:rPr>
                        <a:t>The dashboard page in the browser</a:t>
                      </a:r>
                    </a:p>
                  </a:txBody>
                  <a:tcPr anchor="ctr" marL="64008" marR="64008" marT="27432" marB="27432">
                    <a:solidFill>
                      <a:srgbClr val="EDEDED"/>
                    </a:solidFill>
                  </a:tcPr>
                </a:tc>
              </a:tr>
              <a:tr h="418797">
                <a:tc>
                  <a:txBody>
                    <a:bodyPr/>
                    <a:lstStyle/>
                    <a:p>
                      <a:pPr algn="ctr"/>
                      <a:r>
                        <a:rPr sz="1500" b="0" i="0" u="none">
                          <a:solidFill>
                            <a:srgbClr val="000000"/>
                          </a:solidFill>
                          <a:latin typeface="Times New Roman"/>
                        </a:rPr>
                        <a:t>Software</a:t>
                      </a:r>
                    </a:p>
                  </a:txBody>
                  <a:tcPr anchor="ctr" marL="64008" marR="64008" marT="27432" marB="27432">
                    <a:solidFill>
                      <a:srgbClr val="FFFFFF"/>
                    </a:solidFill>
                  </a:tcPr>
                </a:tc>
                <a:tc>
                  <a:txBody>
                    <a:bodyPr/>
                    <a:lstStyle/>
                    <a:p>
                      <a:pPr algn="l"/>
                      <a:r>
                        <a:rPr sz="1500" b="0" i="0" u="none">
                          <a:solidFill>
                            <a:srgbClr val="000000"/>
                          </a:solidFill>
                          <a:latin typeface="Times New Roman"/>
                        </a:rPr>
                        <a:t>Git and GitHub</a:t>
                      </a:r>
                    </a:p>
                  </a:txBody>
                  <a:tcPr anchor="ctr" marL="64008" marR="64008" marT="27432" marB="27432">
                    <a:solidFill>
                      <a:srgbClr val="FFFFFF"/>
                    </a:solidFill>
                  </a:tcPr>
                </a:tc>
                <a:tc>
                  <a:txBody>
                    <a:bodyPr/>
                    <a:lstStyle/>
                    <a:p>
                      <a:pPr algn="l"/>
                      <a:r>
                        <a:rPr sz="1500" b="0" i="0" u="none">
                          <a:solidFill>
                            <a:srgbClr val="000000"/>
                          </a:solidFill>
                          <a:latin typeface="Times New Roman"/>
                        </a:rPr>
                        <a:t>Keeping the code and the documents</a:t>
                      </a:r>
                    </a:p>
                  </a:txBody>
                  <a:tcPr anchor="ctr" marL="64008" marR="64008"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Literature Survey</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8</a:t>
            </a:r>
          </a:p>
        </p:txBody>
      </p:sp>
      <p:graphicFrame>
        <p:nvGraphicFramePr>
          <p:cNvPr id="7" name="Table 6"/>
          <p:cNvGraphicFramePr>
            <a:graphicFrameLocks noGrp="1"/>
          </p:cNvGraphicFramePr>
          <p:nvPr/>
        </p:nvGraphicFramePr>
        <p:xfrm>
          <a:off x="975207" y="1389888"/>
          <a:ext cx="10241280" cy="4279392"/>
        </p:xfrm>
        <a:graphic>
          <a:graphicData uri="http://schemas.openxmlformats.org/drawingml/2006/table">
            <a:tbl>
              <a:tblPr firstRow="1">
                <a:tableStyleId>{5C22544A-7EE6-4342-B048-85BDC9FD1C3A}</a:tableStyleId>
              </a:tblPr>
              <a:tblGrid>
                <a:gridCol w="1463040"/>
                <a:gridCol w="8778240"/>
              </a:tblGrid>
              <a:tr h="713232">
                <a:tc>
                  <a:txBody>
                    <a:bodyPr/>
                    <a:lstStyle/>
                    <a:p>
                      <a:pPr algn="ctr"/>
                      <a:r>
                        <a:rPr sz="1600" b="1" i="0" u="none">
                          <a:solidFill>
                            <a:srgbClr val="FFFFFF"/>
                          </a:solidFill>
                          <a:latin typeface="Times New Roman"/>
                        </a:rPr>
                        <a:t>References</a:t>
                      </a:r>
                    </a:p>
                  </a:txBody>
                  <a:tcPr anchor="ctr" marL="64008" marR="64008">
                    <a:solidFill>
                      <a:srgbClr val="002060"/>
                    </a:solidFill>
                  </a:tcPr>
                </a:tc>
                <a:tc>
                  <a:txBody>
                    <a:bodyPr/>
                    <a:lstStyle/>
                    <a:p>
                      <a:pPr algn="ctr"/>
                      <a:r>
                        <a:rPr sz="1600" b="1" i="0" u="none">
                          <a:solidFill>
                            <a:srgbClr val="FFFFFF"/>
                          </a:solidFill>
                          <a:latin typeface="Times New Roman"/>
                        </a:rPr>
                        <a:t>Summary of the work</a:t>
                      </a:r>
                    </a:p>
                  </a:txBody>
                  <a:tcPr anchor="ctr" marL="64008" marR="64008">
                    <a:solidFill>
                      <a:srgbClr val="002060"/>
                    </a:solidFill>
                  </a:tcPr>
                </a:tc>
              </a:tr>
              <a:tr h="713232">
                <a:tc>
                  <a:txBody>
                    <a:bodyPr/>
                    <a:lstStyle/>
                    <a:p>
                      <a:pPr algn="ctr"/>
                      <a:r>
                        <a:rPr sz="1600" b="0" i="0" u="none">
                          <a:solidFill>
                            <a:srgbClr val="000000"/>
                          </a:solidFill>
                          <a:latin typeface="Times New Roman"/>
                        </a:rPr>
                        <a:t>[1]</a:t>
                      </a:r>
                    </a:p>
                  </a:txBody>
                  <a:tcPr anchor="ctr" marL="64008" marR="64008" marT="27432" marB="27432">
                    <a:solidFill>
                      <a:srgbClr val="FFFFFF"/>
                    </a:solidFill>
                  </a:tcPr>
                </a:tc>
                <a:tc>
                  <a:txBody>
                    <a:bodyPr/>
                    <a:lstStyle/>
                    <a:p>
                      <a:pPr algn="l"/>
                      <a:r>
                        <a:rPr sz="1600" b="0" i="0" u="none">
                          <a:solidFill>
                            <a:srgbClr val="000000"/>
                          </a:solidFill>
                          <a:latin typeface="Times New Roman"/>
                        </a:rPr>
                        <a:t>How thermal runaway starts inside a lithium-ion cell, and the temperature at which each stage begins.</a:t>
                      </a:r>
                    </a:p>
                  </a:txBody>
                  <a:tcPr anchor="ctr" marL="64008" marR="64008" marT="27432" marB="27432">
                    <a:solidFill>
                      <a:srgbClr val="FFFFFF"/>
                    </a:solidFill>
                  </a:tcPr>
                </a:tc>
              </a:tr>
              <a:tr h="713232">
                <a:tc>
                  <a:txBody>
                    <a:bodyPr/>
                    <a:lstStyle/>
                    <a:p>
                      <a:pPr algn="ctr"/>
                      <a:r>
                        <a:rPr sz="1600" b="0" i="0" u="none">
                          <a:solidFill>
                            <a:srgbClr val="000000"/>
                          </a:solidFill>
                          <a:latin typeface="Times New Roman"/>
                        </a:rPr>
                        <a:t>[2]</a:t>
                      </a:r>
                    </a:p>
                  </a:txBody>
                  <a:tcPr anchor="ctr" marL="64008" marR="64008" marT="27432" marB="27432">
                    <a:solidFill>
                      <a:srgbClr val="EDEDED"/>
                    </a:solidFill>
                  </a:tcPr>
                </a:tc>
                <a:tc>
                  <a:txBody>
                    <a:bodyPr/>
                    <a:lstStyle/>
                    <a:p>
                      <a:pPr algn="l"/>
                      <a:r>
                        <a:rPr sz="1600" b="0" i="0" u="none">
                          <a:solidFill>
                            <a:srgbClr val="000000"/>
                          </a:solidFill>
                          <a:latin typeface="Times New Roman"/>
                        </a:rPr>
                        <a:t>A review of the ways thermal runaway can be predicted early, and what each method needs in order to work.</a:t>
                      </a:r>
                    </a:p>
                  </a:txBody>
                  <a:tcPr anchor="ctr" marL="64008" marR="64008" marT="27432" marB="27432">
                    <a:solidFill>
                      <a:srgbClr val="EDEDED"/>
                    </a:solidFill>
                  </a:tcPr>
                </a:tc>
              </a:tr>
              <a:tr h="713232">
                <a:tc>
                  <a:txBody>
                    <a:bodyPr/>
                    <a:lstStyle/>
                    <a:p>
                      <a:pPr algn="ctr"/>
                      <a:r>
                        <a:rPr sz="1600" b="0" i="0" u="none">
                          <a:solidFill>
                            <a:srgbClr val="000000"/>
                          </a:solidFill>
                          <a:latin typeface="Times New Roman"/>
                        </a:rPr>
                        <a:t>[3]</a:t>
                      </a:r>
                    </a:p>
                  </a:txBody>
                  <a:tcPr anchor="ctr" marL="64008" marR="64008" marT="27432" marB="27432">
                    <a:solidFill>
                      <a:srgbClr val="FFFFFF"/>
                    </a:solidFill>
                  </a:tcPr>
                </a:tc>
                <a:tc>
                  <a:txBody>
                    <a:bodyPr/>
                    <a:lstStyle/>
                    <a:p>
                      <a:pPr algn="l"/>
                      <a:r>
                        <a:rPr sz="1600" b="0" i="0" u="none">
                          <a:solidFill>
                            <a:srgbClr val="000000"/>
                          </a:solidFill>
                          <a:latin typeface="Times New Roman"/>
                        </a:rPr>
                        <a:t>A warning method that combines data clustering with a heat model, and warns 25 minutes before thermal runaway.</a:t>
                      </a:r>
                    </a:p>
                  </a:txBody>
                  <a:tcPr anchor="ctr" marL="64008" marR="64008" marT="27432" marB="27432">
                    <a:solidFill>
                      <a:srgbClr val="FFFFFF"/>
                    </a:solidFill>
                  </a:tcPr>
                </a:tc>
              </a:tr>
              <a:tr h="713232">
                <a:tc>
                  <a:txBody>
                    <a:bodyPr/>
                    <a:lstStyle/>
                    <a:p>
                      <a:pPr algn="ctr"/>
                      <a:r>
                        <a:rPr sz="1600" b="0" i="0" u="none">
                          <a:solidFill>
                            <a:srgbClr val="000000"/>
                          </a:solidFill>
                          <a:latin typeface="Times New Roman"/>
                        </a:rPr>
                        <a:t>[4]</a:t>
                      </a:r>
                    </a:p>
                  </a:txBody>
                  <a:tcPr anchor="ctr" marL="64008" marR="64008" marT="27432" marB="27432">
                    <a:solidFill>
                      <a:srgbClr val="EDEDED"/>
                    </a:solidFill>
                  </a:tcPr>
                </a:tc>
                <a:tc>
                  <a:txBody>
                    <a:bodyPr/>
                    <a:lstStyle/>
                    <a:p>
                      <a:pPr algn="l"/>
                      <a:r>
                        <a:rPr sz="1600" b="0" i="0" u="none">
                          <a:solidFill>
                            <a:srgbClr val="000000"/>
                          </a:solidFill>
                          <a:latin typeface="Times New Roman"/>
                        </a:rPr>
                        <a:t>A review of what a battery management system does, and which problems in it are still open.</a:t>
                      </a:r>
                    </a:p>
                  </a:txBody>
                  <a:tcPr anchor="ctr" marL="64008" marR="64008" marT="27432" marB="27432">
                    <a:solidFill>
                      <a:srgbClr val="EDEDED"/>
                    </a:solidFill>
                  </a:tcPr>
                </a:tc>
              </a:tr>
              <a:tr h="713232">
                <a:tc>
                  <a:txBody>
                    <a:bodyPr/>
                    <a:lstStyle/>
                    <a:p>
                      <a:pPr algn="ctr"/>
                      <a:r>
                        <a:rPr sz="1600" b="0" i="0" u="none">
                          <a:solidFill>
                            <a:srgbClr val="000000"/>
                          </a:solidFill>
                          <a:latin typeface="Times New Roman"/>
                        </a:rPr>
                        <a:t>[5]</a:t>
                      </a:r>
                    </a:p>
                  </a:txBody>
                  <a:tcPr anchor="ctr" marL="64008" marR="64008" marT="27432" marB="27432">
                    <a:solidFill>
                      <a:srgbClr val="FFFFFF"/>
                    </a:solidFill>
                  </a:tcPr>
                </a:tc>
                <a:tc>
                  <a:txBody>
                    <a:bodyPr/>
                    <a:lstStyle/>
                    <a:p>
                      <a:pPr algn="l"/>
                      <a:r>
                        <a:rPr sz="1600" b="0" i="0" u="none">
                          <a:solidFill>
                            <a:srgbClr val="000000"/>
                          </a:solidFill>
                          <a:latin typeface="Times New Roman"/>
                        </a:rPr>
                        <a:t>The Indian safety standard for sealed lithium cells, and the abuse tests it lays down.</a:t>
                      </a:r>
                    </a:p>
                  </a:txBody>
                  <a:tcPr anchor="ctr" marL="64008" marR="64008" marT="27432" marB="2743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1188720" y="384048"/>
            <a:ext cx="9814255" cy="548640"/>
          </a:xfrm>
          <a:prstGeom prst="rect">
            <a:avLst/>
          </a:prstGeom>
          <a:noFill/>
        </p:spPr>
        <p:txBody>
          <a:bodyPr wrap="square" lIns="0" rIns="0" tIns="0" bIns="0">
            <a:noAutofit/>
          </a:bodyPr>
          <a:lstStyle/>
          <a:p>
            <a:pPr algn="ctr"/>
            <a:r>
              <a:rPr sz="2400" b="1" i="0" u="sng">
                <a:solidFill>
                  <a:srgbClr val="000000"/>
                </a:solidFill>
                <a:latin typeface="Times New Roman"/>
              </a:rPr>
              <a:t>References</a:t>
            </a:r>
          </a:p>
        </p:txBody>
      </p:sp>
      <p:sp>
        <p:nvSpPr>
          <p:cNvPr id="4" name="TextBox 3"/>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5" name="TextBox 4"/>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6" name="TextBox 5"/>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9</a:t>
            </a:r>
          </a:p>
        </p:txBody>
      </p:sp>
      <p:sp>
        <p:nvSpPr>
          <p:cNvPr id="7" name="TextBox 6"/>
          <p:cNvSpPr txBox="1"/>
          <p:nvPr/>
        </p:nvSpPr>
        <p:spPr>
          <a:xfrm>
            <a:off x="1168603" y="1389888"/>
            <a:ext cx="10195560" cy="4754879"/>
          </a:xfrm>
          <a:prstGeom prst="rect">
            <a:avLst/>
          </a:prstGeom>
          <a:noFill/>
        </p:spPr>
        <p:txBody>
          <a:bodyPr wrap="square" lIns="0" rIns="0" tIns="0" bIns="0">
            <a:noAutofit/>
          </a:bodyPr>
          <a:lstStyle/>
          <a:p>
            <a:pPr marL="384048" indent="-384048">
              <a:lnSpc>
                <a:spcPct val="110000"/>
              </a:lnSpc>
              <a:spcAft>
                <a:spcPts val="2000"/>
              </a:spcAft>
              <a:buNone/>
            </a:pPr>
            <a:r>
              <a:rPr sz="1400" b="0" i="0" u="none">
                <a:solidFill>
                  <a:srgbClr val="000000"/>
                </a:solidFill>
                <a:latin typeface="Times New Roman"/>
              </a:rPr>
              <a:t>[1]  </a:t>
            </a:r>
            <a:r>
              <a:rPr sz="1400" b="0" i="0" u="none">
                <a:solidFill>
                  <a:srgbClr val="000000"/>
                </a:solidFill>
                <a:latin typeface="Times New Roman"/>
              </a:rPr>
              <a:t>X. Feng, M. Ouyang, X. Liu, L. Lu, Y. Xia and X. He, “Thermal runaway mechanism of lithium ion battery for electric vehicles: A review,” Energy Storage Materials, vol. 10, pp. 246–267, 2018.</a:t>
            </a:r>
          </a:p>
          <a:p>
            <a:pPr marL="384048" indent="-384048">
              <a:lnSpc>
                <a:spcPct val="110000"/>
              </a:lnSpc>
              <a:spcAft>
                <a:spcPts val="2000"/>
              </a:spcAft>
              <a:buNone/>
            </a:pPr>
            <a:r>
              <a:rPr sz="1400" b="0" i="0" u="none">
                <a:solidFill>
                  <a:srgbClr val="000000"/>
                </a:solidFill>
                <a:latin typeface="Times New Roman"/>
              </a:rPr>
              <a:t>[2]  </a:t>
            </a:r>
            <a:r>
              <a:rPr sz="1400" b="0" i="0" u="none">
                <a:solidFill>
                  <a:srgbClr val="000000"/>
                </a:solidFill>
                <a:latin typeface="Times New Roman"/>
              </a:rPr>
              <a:t>X. Zhang, S. Chen, J. Zhu and Y. Gao, “A critical review of thermal runaway prediction and early-warning methods for lithium-ion batteries,” Energy Material Advances, vol. 4, art. 0008, 2023.</a:t>
            </a:r>
          </a:p>
          <a:p>
            <a:pPr marL="384048" indent="-384048">
              <a:lnSpc>
                <a:spcPct val="110000"/>
              </a:lnSpc>
              <a:spcAft>
                <a:spcPts val="2000"/>
              </a:spcAft>
              <a:buNone/>
            </a:pPr>
            <a:r>
              <a:rPr sz="1400" b="0" i="0" u="none">
                <a:solidFill>
                  <a:srgbClr val="000000"/>
                </a:solidFill>
                <a:latin typeface="Times New Roman"/>
              </a:rPr>
              <a:t>[3]  </a:t>
            </a:r>
            <a:r>
              <a:rPr sz="1400" b="0" i="0" u="none">
                <a:solidFill>
                  <a:srgbClr val="000000"/>
                </a:solidFill>
                <a:latin typeface="Times New Roman"/>
              </a:rPr>
              <a:t>Q. Chen, Y. He, N. Fang and G. Yu, “A combined data-driven and model-based algorithm for accurate battery thermal runaway warning,” Sensors, vol. 24, no. 15, art. 4964, 2024.</a:t>
            </a:r>
          </a:p>
          <a:p>
            <a:pPr marL="384048" indent="-384048">
              <a:lnSpc>
                <a:spcPct val="110000"/>
              </a:lnSpc>
              <a:spcAft>
                <a:spcPts val="2000"/>
              </a:spcAft>
              <a:buNone/>
            </a:pPr>
            <a:r>
              <a:rPr sz="1400" b="0" i="0" u="none">
                <a:solidFill>
                  <a:srgbClr val="000000"/>
                </a:solidFill>
                <a:latin typeface="Times New Roman"/>
              </a:rPr>
              <a:t>[4]  </a:t>
            </a:r>
            <a:r>
              <a:rPr sz="1400" b="0" i="0" u="none">
                <a:solidFill>
                  <a:srgbClr val="000000"/>
                </a:solidFill>
                <a:latin typeface="Times New Roman"/>
              </a:rPr>
              <a:t>A. K. M. A. Habib, M. K. Hasan, G. F. Issa, D. Singh, S. Islam and T. M. Ghazal, “Lithium-ion battery management system for electric vehicles: Constraints, challenges, and recommendations,” Batteries, vol. 9, no. 3, art. 152, 2023.</a:t>
            </a:r>
          </a:p>
          <a:p>
            <a:pPr marL="384048" indent="-384048">
              <a:lnSpc>
                <a:spcPct val="110000"/>
              </a:lnSpc>
              <a:spcAft>
                <a:spcPts val="2000"/>
              </a:spcAft>
              <a:buNone/>
            </a:pPr>
            <a:r>
              <a:rPr sz="1400" b="0" i="0" u="none">
                <a:solidFill>
                  <a:srgbClr val="000000"/>
                </a:solidFill>
                <a:latin typeface="Times New Roman"/>
              </a:rPr>
              <a:t>[5]  </a:t>
            </a:r>
            <a:r>
              <a:rPr sz="1400" b="0" i="0" u="none">
                <a:solidFill>
                  <a:srgbClr val="000000"/>
                </a:solidFill>
                <a:latin typeface="Times New Roman"/>
              </a:rPr>
              <a:t>IS 16046 (Part 2) : 2018 / IEC 62133-2 : 2017, Secondary cells and batteries containing alkaline or other non-acid electrolytes — Part 2: Lithium systems.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86207" y="109728"/>
            <a:ext cx="646480" cy="950976"/>
          </a:xfrm>
          <a:prstGeom prst="rect">
            <a:avLst/>
          </a:prstGeom>
        </p:spPr>
      </p:pic>
      <p:sp>
        <p:nvSpPr>
          <p:cNvPr id="3" name="TextBox 2"/>
          <p:cNvSpPr txBox="1"/>
          <p:nvPr/>
        </p:nvSpPr>
        <p:spPr>
          <a:xfrm>
            <a:off x="929944" y="6355080"/>
            <a:ext cx="2286000" cy="292608"/>
          </a:xfrm>
          <a:prstGeom prst="rect">
            <a:avLst/>
          </a:prstGeom>
          <a:noFill/>
        </p:spPr>
        <p:txBody>
          <a:bodyPr wrap="square" lIns="0" rIns="0" tIns="0" bIns="0">
            <a:noAutofit/>
          </a:bodyPr>
          <a:lstStyle/>
          <a:p>
            <a:r>
              <a:rPr sz="1200" b="0" i="0" u="none">
                <a:solidFill>
                  <a:srgbClr val="898989"/>
                </a:solidFill>
                <a:latin typeface="Calibri"/>
              </a:rPr>
              <a:t>22-07-2026</a:t>
            </a:r>
          </a:p>
        </p:txBody>
      </p:sp>
      <p:sp>
        <p:nvSpPr>
          <p:cNvPr id="4" name="TextBox 3"/>
          <p:cNvSpPr txBox="1"/>
          <p:nvPr/>
        </p:nvSpPr>
        <p:spPr>
          <a:xfrm>
            <a:off x="3931920" y="6355080"/>
            <a:ext cx="4297680" cy="292608"/>
          </a:xfrm>
          <a:prstGeom prst="rect">
            <a:avLst/>
          </a:prstGeom>
          <a:noFill/>
        </p:spPr>
        <p:txBody>
          <a:bodyPr wrap="square" lIns="0" rIns="0" tIns="0" bIns="0">
            <a:noAutofit/>
          </a:bodyPr>
          <a:lstStyle/>
          <a:p>
            <a:pPr algn="ctr"/>
            <a:r>
              <a:rPr sz="1200" b="0" i="0" u="none">
                <a:solidFill>
                  <a:srgbClr val="898989"/>
                </a:solidFill>
                <a:latin typeface="Calibri"/>
              </a:rPr>
              <a:t>Zeroth Review-2026-27</a:t>
            </a:r>
          </a:p>
        </p:txBody>
      </p:sp>
      <p:sp>
        <p:nvSpPr>
          <p:cNvPr id="5" name="TextBox 4"/>
          <p:cNvSpPr txBox="1"/>
          <p:nvPr/>
        </p:nvSpPr>
        <p:spPr>
          <a:xfrm>
            <a:off x="10058400" y="6355080"/>
            <a:ext cx="1204264" cy="292608"/>
          </a:xfrm>
          <a:prstGeom prst="rect">
            <a:avLst/>
          </a:prstGeom>
          <a:noFill/>
        </p:spPr>
        <p:txBody>
          <a:bodyPr wrap="square" lIns="0" rIns="0" tIns="0" bIns="0">
            <a:noAutofit/>
          </a:bodyPr>
          <a:lstStyle/>
          <a:p>
            <a:pPr algn="r"/>
            <a:r>
              <a:rPr sz="1200" b="0" i="0" u="none">
                <a:solidFill>
                  <a:srgbClr val="898989"/>
                </a:solidFill>
                <a:latin typeface="Calibri"/>
              </a:rPr>
              <a:t>10</a:t>
            </a:r>
          </a:p>
        </p:txBody>
      </p:sp>
      <p:sp>
        <p:nvSpPr>
          <p:cNvPr id="6" name="TextBox 5"/>
          <p:cNvSpPr txBox="1"/>
          <p:nvPr/>
        </p:nvSpPr>
        <p:spPr>
          <a:xfrm>
            <a:off x="1188720" y="2606040"/>
            <a:ext cx="9814255" cy="1463040"/>
          </a:xfrm>
          <a:prstGeom prst="rect">
            <a:avLst/>
          </a:prstGeom>
          <a:noFill/>
        </p:spPr>
        <p:txBody>
          <a:bodyPr wrap="square" lIns="0" rIns="0" tIns="0" bIns="0">
            <a:noAutofit/>
          </a:bodyPr>
          <a:lstStyle/>
          <a:p>
            <a:pPr algn="ctr"/>
            <a:r>
              <a:rPr sz="4000" b="1" i="0" u="none">
                <a:solidFill>
                  <a:srgbClr val="000000"/>
                </a:solidFill>
                <a:latin typeface="Times New Roman"/>
              </a:rPr>
              <a:t>Thank You</a:t>
            </a:r>
          </a:p>
          <a:p>
            <a:pPr algn="ctr"/>
            <a:r>
              <a:rPr sz="1800" b="0" i="0" u="none">
                <a:solidFill>
                  <a:srgbClr val="000000"/>
                </a:solidFill>
                <a:latin typeface="Times New Roman"/>
              </a:rPr>
              <a:t/>
            </a:r>
          </a:p>
          <a:p>
            <a:pPr algn="ctr"/>
            <a:r>
              <a:rPr sz="2000" b="0" i="0" u="none">
                <a:solidFill>
                  <a:srgbClr val="002060"/>
                </a:solidFill>
                <a:latin typeface="Times New Roman"/>
              </a:rPr>
              <a:t>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